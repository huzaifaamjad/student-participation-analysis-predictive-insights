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nter"/>
      <p:bold r:id="rId18"/>
      <p:boldItalic r:id="rId19"/>
    </p:embeddedFont>
    <p:embeddedFont>
      <p:font typeface="Poppins ExtraBold"/>
      <p:bold r:id="rId20"/>
      <p:boldItalic r:id="rId21"/>
    </p:embeddedFont>
    <p:embeddedFont>
      <p:font typeface="Poppins"/>
      <p:bold r:id="rId22"/>
      <p:boldItalic r:id="rId23"/>
    </p:embeddedFont>
    <p:embeddedFont>
      <p:font typeface="Google Sans"/>
      <p:bold r:id="rId24"/>
      <p:boldItalic r:id="rId25"/>
    </p:embeddedFont>
    <p:embeddedFont>
      <p:font typeface="Open Sans SemiBold"/>
      <p:regular r:id="rId26"/>
      <p:bold r:id="rId27"/>
      <p:italic r:id="rId28"/>
      <p:boldItalic r:id="rId29"/>
    </p:embeddedFont>
    <p:embeddedFont>
      <p:font typeface="Inter ExtraBold"/>
      <p:bold r:id="rId30"/>
      <p:boldItalic r:id="rId31"/>
    </p:embeddedFont>
    <p:embeddedFont>
      <p:font typeface="Poppins Medium"/>
      <p:regular r:id="rId32"/>
      <p:bold r:id="rId33"/>
      <p:italic r:id="rId34"/>
      <p:boldItalic r:id="rId35"/>
    </p:embeddedFont>
    <p:embeddedFont>
      <p:font typeface="Open Sans ExtraBold"/>
      <p:bold r:id="rId36"/>
      <p:boldItalic r:id="rId37"/>
    </p:embeddedFont>
    <p:embeddedFont>
      <p:font typeface="Open Sans Medium"/>
      <p:regular r:id="rId38"/>
      <p:bold r:id="rId39"/>
      <p:italic r:id="rId40"/>
      <p:boldItalic r:id="rId41"/>
    </p:embeddedFont>
    <p:embeddedFont>
      <p:font typeface="Poppins SemiBold"/>
      <p:regular r:id="rId42"/>
      <p:bold r:id="rId43"/>
      <p:italic r:id="rId44"/>
      <p:boldItalic r:id="rId45"/>
    </p:embeddedFont>
    <p:embeddedFont>
      <p:font typeface="Inter Medium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Medium-italic.fntdata"/><Relationship Id="rId42" Type="http://schemas.openxmlformats.org/officeDocument/2006/relationships/font" Target="fonts/PoppinsSemiBold-regular.fntdata"/><Relationship Id="rId41" Type="http://schemas.openxmlformats.org/officeDocument/2006/relationships/font" Target="fonts/OpenSansMedium-boldItalic.fntdata"/><Relationship Id="rId44" Type="http://schemas.openxmlformats.org/officeDocument/2006/relationships/font" Target="fonts/PoppinsSemiBold-italic.fntdata"/><Relationship Id="rId43" Type="http://schemas.openxmlformats.org/officeDocument/2006/relationships/font" Target="fonts/PoppinsSemiBold-bold.fntdata"/><Relationship Id="rId46" Type="http://schemas.openxmlformats.org/officeDocument/2006/relationships/font" Target="fonts/InterMedium-regular.fntdata"/><Relationship Id="rId45" Type="http://schemas.openxmlformats.org/officeDocument/2006/relationships/font" Target="fonts/Poppi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Medium-italic.fntdata"/><Relationship Id="rId47" Type="http://schemas.openxmlformats.org/officeDocument/2006/relationships/font" Target="fonts/InterMedium-bold.fntdata"/><Relationship Id="rId49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33" Type="http://schemas.openxmlformats.org/officeDocument/2006/relationships/font" Target="fonts/PoppinsMedium-bold.fntdata"/><Relationship Id="rId32" Type="http://schemas.openxmlformats.org/officeDocument/2006/relationships/font" Target="fonts/PoppinsMedium-regular.fntdata"/><Relationship Id="rId35" Type="http://schemas.openxmlformats.org/officeDocument/2006/relationships/font" Target="fonts/PoppinsMedium-boldItalic.fntdata"/><Relationship Id="rId34" Type="http://schemas.openxmlformats.org/officeDocument/2006/relationships/font" Target="fonts/PoppinsMedium-italic.fntdata"/><Relationship Id="rId37" Type="http://schemas.openxmlformats.org/officeDocument/2006/relationships/font" Target="fonts/OpenSansExtraBold-boldItalic.fntdata"/><Relationship Id="rId36" Type="http://schemas.openxmlformats.org/officeDocument/2006/relationships/font" Target="fonts/OpenSansExtraBold-bold.fntdata"/><Relationship Id="rId39" Type="http://schemas.openxmlformats.org/officeDocument/2006/relationships/font" Target="fonts/OpenSansMedium-bold.fntdata"/><Relationship Id="rId38" Type="http://schemas.openxmlformats.org/officeDocument/2006/relationships/font" Target="fonts/OpenSansMedium-regular.fntdata"/><Relationship Id="rId20" Type="http://schemas.openxmlformats.org/officeDocument/2006/relationships/font" Target="fonts/PoppinsExtraBold-bold.fntdata"/><Relationship Id="rId22" Type="http://schemas.openxmlformats.org/officeDocument/2006/relationships/font" Target="fonts/Poppins-bold.fntdata"/><Relationship Id="rId21" Type="http://schemas.openxmlformats.org/officeDocument/2006/relationships/font" Target="fonts/PoppinsExtraBold-boldItalic.fntdata"/><Relationship Id="rId24" Type="http://schemas.openxmlformats.org/officeDocument/2006/relationships/font" Target="fonts/GoogleSans-bold.fntdata"/><Relationship Id="rId23" Type="http://schemas.openxmlformats.org/officeDocument/2006/relationships/font" Target="fonts/Poppins-boldItalic.fntdata"/><Relationship Id="rId26" Type="http://schemas.openxmlformats.org/officeDocument/2006/relationships/font" Target="fonts/OpenSansSemiBold-regular.fntdata"/><Relationship Id="rId25" Type="http://schemas.openxmlformats.org/officeDocument/2006/relationships/font" Target="fonts/GoogleSans-boldItalic.fntdata"/><Relationship Id="rId28" Type="http://schemas.openxmlformats.org/officeDocument/2006/relationships/font" Target="fonts/OpenSansSemiBold-italic.fntdata"/><Relationship Id="rId27" Type="http://schemas.openxmlformats.org/officeDocument/2006/relationships/font" Target="fonts/OpenSansSemiBold-bold.fntdata"/><Relationship Id="rId29" Type="http://schemas.openxmlformats.org/officeDocument/2006/relationships/font" Target="fonts/OpenSansSemiBold-boldItalic.fntdata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bold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6add262d0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6add262d0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aecb034d_162_1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aecb034d_162_1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aecb034d_162_1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6aecb034d_162_1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6add262d0_1_3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6add262d0_1_3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6aecb034d_162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6aecb034d_16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6b7b0df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f6b7b0df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6aecb034d_162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6aecb034d_162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6aecb034d_162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6aecb034d_162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6aecb034d_162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f6aecb034d_162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6aecb034d_162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f6aecb034d_162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f6aecb034d_162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f6aecb034d_162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f6add262d0_1_3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f6add262d0_1_3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add262d0_31_0)">
  <p:cSld name="Generated (g3f6add262d0_31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27.png"/><Relationship Id="rId8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4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43.png"/><Relationship Id="rId5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6.png"/><Relationship Id="rId4" Type="http://schemas.openxmlformats.org/officeDocument/2006/relationships/image" Target="../media/image56.png"/><Relationship Id="rId9" Type="http://schemas.openxmlformats.org/officeDocument/2006/relationships/image" Target="../media/image64.png"/><Relationship Id="rId5" Type="http://schemas.openxmlformats.org/officeDocument/2006/relationships/image" Target="../media/image61.png"/><Relationship Id="rId6" Type="http://schemas.openxmlformats.org/officeDocument/2006/relationships/image" Target="../media/image53.png"/><Relationship Id="rId7" Type="http://schemas.openxmlformats.org/officeDocument/2006/relationships/image" Target="../media/image65.png"/><Relationship Id="rId8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52500" y="-952500"/>
            <a:ext cx="16575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9150" y="52388"/>
            <a:ext cx="705000" cy="36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576262" y="2852738"/>
            <a:ext cx="2867100" cy="22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8988" y="-290512"/>
            <a:ext cx="2004900" cy="229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4"/>
          <p:cNvCxnSpPr/>
          <p:nvPr/>
        </p:nvCxnSpPr>
        <p:spPr>
          <a:xfrm>
            <a:off x="762000" y="476250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4"/>
          <p:cNvCxnSpPr/>
          <p:nvPr/>
        </p:nvCxnSpPr>
        <p:spPr>
          <a:xfrm>
            <a:off x="762000" y="4667250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4"/>
          <p:cNvSpPr/>
          <p:nvPr/>
        </p:nvSpPr>
        <p:spPr>
          <a:xfrm>
            <a:off x="3714750" y="714375"/>
            <a:ext cx="1714500" cy="400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19500" y="1476375"/>
            <a:ext cx="1905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619500" y="1476375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EXECUTIVE DECK</a:t>
            </a:r>
            <a:endParaRPr b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71500" y="2000250"/>
            <a:ext cx="8001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Student Participation Analysis</a:t>
            </a:r>
            <a:br>
              <a:rPr b="1" lang="en-GB" sz="38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GB" sz="38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&amp; Predictive Insights</a:t>
            </a:r>
            <a:endParaRPr b="1" sz="38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91000" y="361950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571500" y="385762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55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Excelerate AI Powered Data Analysis Internship</a:t>
            </a:r>
            <a:endParaRPr sz="1600">
              <a:solidFill>
                <a:srgbClr val="555555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67" name="Google Shape;67;p14" title="Screenshot 2026-08-10 at 12.06.51 AM.png"/>
          <p:cNvPicPr preferRelativeResize="0"/>
          <p:nvPr/>
        </p:nvPicPr>
        <p:blipFill rotWithShape="1">
          <a:blip r:embed="rId10">
            <a:alphaModFix/>
          </a:blip>
          <a:srcRect b="15994" l="9664" r="9266" t="28024"/>
          <a:stretch/>
        </p:blipFill>
        <p:spPr>
          <a:xfrm>
            <a:off x="3802737" y="781125"/>
            <a:ext cx="1538674" cy="266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" name="Google Shape;68;p14" title="Screenshot 2026-08-10 at 12.06.51 AM.png"/>
          <p:cNvPicPr preferRelativeResize="0"/>
          <p:nvPr/>
        </p:nvPicPr>
        <p:blipFill rotWithShape="1">
          <a:blip r:embed="rId10">
            <a:alphaModFix/>
          </a:blip>
          <a:srcRect b="28033" l="32027" r="30827" t="33248"/>
          <a:stretch/>
        </p:blipFill>
        <p:spPr>
          <a:xfrm>
            <a:off x="3714750" y="678550"/>
            <a:ext cx="1702949" cy="4369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71500" y="381000"/>
            <a:ext cx="800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40">
                <a:solidFill>
                  <a:srgbClr val="1F2937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Project Overview</a:t>
            </a:r>
            <a:endParaRPr b="0" sz="2040">
              <a:solidFill>
                <a:srgbClr val="1F2937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71500" y="70485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From learner data to actionable program insights</a:t>
            </a:r>
            <a:endParaRPr b="0" sz="1100">
              <a:solidFill>
                <a:srgbClr val="6B72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6" name="Google Shape;76;p15"/>
          <p:cNvGrpSpPr/>
          <p:nvPr/>
        </p:nvGrpSpPr>
        <p:grpSpPr>
          <a:xfrm>
            <a:off x="566738" y="1233488"/>
            <a:ext cx="1381200" cy="1819200"/>
            <a:chOff x="566738" y="1233488"/>
            <a:chExt cx="1381200" cy="1819200"/>
          </a:xfrm>
        </p:grpSpPr>
        <p:pic>
          <p:nvPicPr>
            <p:cNvPr id="77" name="Google Shape;7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6738" y="1233488"/>
              <a:ext cx="1381200" cy="18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5"/>
            <p:cNvSpPr/>
            <p:nvPr/>
          </p:nvSpPr>
          <p:spPr>
            <a:xfrm>
              <a:off x="571500" y="1238250"/>
              <a:ext cx="13716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685800" y="1390650"/>
              <a:ext cx="1143000" cy="15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STAGE 01</a:t>
              </a:r>
              <a:endParaRPr b="1" sz="800">
                <a:solidFill>
                  <a:srgbClr val="CB46B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1F2937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ANALYZE</a:t>
              </a:r>
              <a:endParaRPr b="0" sz="1100">
                <a:solidFill>
                  <a:srgbClr val="1F2937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Historical Participation</a:t>
              </a:r>
              <a:endParaRPr b="0" sz="95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1943100" y="2105025"/>
            <a:ext cx="361950" cy="76200"/>
            <a:chOff x="1943100" y="2105025"/>
            <a:chExt cx="361950" cy="76200"/>
          </a:xfrm>
        </p:grpSpPr>
        <p:cxnSp>
          <p:nvCxnSpPr>
            <p:cNvPr id="81" name="Google Shape;81;p15"/>
            <p:cNvCxnSpPr/>
            <p:nvPr/>
          </p:nvCxnSpPr>
          <p:spPr>
            <a:xfrm>
              <a:off x="1943100" y="2143125"/>
              <a:ext cx="285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CB46B1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82" name="Google Shape;8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28850" y="21050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" name="Google Shape;83;p15"/>
          <p:cNvGrpSpPr/>
          <p:nvPr/>
        </p:nvGrpSpPr>
        <p:grpSpPr>
          <a:xfrm>
            <a:off x="2300288" y="1233488"/>
            <a:ext cx="1381200" cy="1819200"/>
            <a:chOff x="2300288" y="1233488"/>
            <a:chExt cx="1381200" cy="1819200"/>
          </a:xfrm>
        </p:grpSpPr>
        <p:pic>
          <p:nvPicPr>
            <p:cNvPr id="84" name="Google Shape;84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00288" y="1233488"/>
              <a:ext cx="1381200" cy="18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5"/>
            <p:cNvSpPr/>
            <p:nvPr/>
          </p:nvSpPr>
          <p:spPr>
            <a:xfrm>
              <a:off x="2305050" y="1238250"/>
              <a:ext cx="1371600" cy="38100"/>
            </a:xfrm>
            <a:prstGeom prst="roundRect">
              <a:avLst>
                <a:gd fmla="val 50000" name="adj"/>
              </a:avLst>
            </a:prstGeom>
            <a:solidFill>
              <a:srgbClr val="C24E9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2419350" y="1390650"/>
              <a:ext cx="1143000" cy="15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C24E95"/>
                  </a:solidFill>
                  <a:latin typeface="Open Sans"/>
                  <a:ea typeface="Open Sans"/>
                  <a:cs typeface="Open Sans"/>
                  <a:sym typeface="Open Sans"/>
                </a:rPr>
                <a:t>STAGE 02</a:t>
              </a:r>
              <a:endParaRPr b="1" sz="800">
                <a:solidFill>
                  <a:srgbClr val="C24E9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1F2937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DISCOVER</a:t>
              </a:r>
              <a:endParaRPr b="0" sz="1100">
                <a:solidFill>
                  <a:srgbClr val="1F2937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Participation Drivers</a:t>
              </a:r>
              <a:endParaRPr b="0" sz="95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3676650" y="2105025"/>
            <a:ext cx="361950" cy="76200"/>
            <a:chOff x="3676650" y="2105025"/>
            <a:chExt cx="361950" cy="76200"/>
          </a:xfrm>
        </p:grpSpPr>
        <p:cxnSp>
          <p:nvCxnSpPr>
            <p:cNvPr id="88" name="Google Shape;88;p15"/>
            <p:cNvCxnSpPr/>
            <p:nvPr/>
          </p:nvCxnSpPr>
          <p:spPr>
            <a:xfrm>
              <a:off x="3676650" y="2143125"/>
              <a:ext cx="285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B8557B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89" name="Google Shape;89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62400" y="21050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" name="Google Shape;90;p15"/>
          <p:cNvGrpSpPr/>
          <p:nvPr/>
        </p:nvGrpSpPr>
        <p:grpSpPr>
          <a:xfrm>
            <a:off x="4033838" y="1233488"/>
            <a:ext cx="1381200" cy="1819200"/>
            <a:chOff x="4033838" y="1233488"/>
            <a:chExt cx="1381200" cy="1819200"/>
          </a:xfrm>
        </p:grpSpPr>
        <p:pic>
          <p:nvPicPr>
            <p:cNvPr id="91" name="Google Shape;9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33838" y="1233488"/>
              <a:ext cx="1381200" cy="18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5"/>
            <p:cNvSpPr/>
            <p:nvPr/>
          </p:nvSpPr>
          <p:spPr>
            <a:xfrm>
              <a:off x="4038600" y="1238250"/>
              <a:ext cx="1371600" cy="38100"/>
            </a:xfrm>
            <a:prstGeom prst="roundRect">
              <a:avLst>
                <a:gd fmla="val 50000" name="adj"/>
              </a:avLst>
            </a:prstGeom>
            <a:solidFill>
              <a:srgbClr val="AE5D6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4152900" y="1390650"/>
              <a:ext cx="1143000" cy="15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AE5D60"/>
                  </a:solidFill>
                  <a:latin typeface="Open Sans"/>
                  <a:ea typeface="Open Sans"/>
                  <a:cs typeface="Open Sans"/>
                  <a:sym typeface="Open Sans"/>
                </a:rPr>
                <a:t>STAGE 03</a:t>
              </a:r>
              <a:endParaRPr b="1" sz="800">
                <a:solidFill>
                  <a:srgbClr val="AE5D6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1F2937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PREDICT</a:t>
              </a:r>
              <a:endParaRPr b="0" sz="1100">
                <a:solidFill>
                  <a:srgbClr val="1F2937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Machine Learning</a:t>
              </a:r>
              <a:endParaRPr b="0" sz="95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5410200" y="2105025"/>
            <a:ext cx="361950" cy="76200"/>
            <a:chOff x="5410200" y="2105025"/>
            <a:chExt cx="361950" cy="76200"/>
          </a:xfrm>
        </p:grpSpPr>
        <p:cxnSp>
          <p:nvCxnSpPr>
            <p:cNvPr id="95" name="Google Shape;95;p15"/>
            <p:cNvCxnSpPr/>
            <p:nvPr/>
          </p:nvCxnSpPr>
          <p:spPr>
            <a:xfrm>
              <a:off x="5410200" y="2143125"/>
              <a:ext cx="285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A165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96" name="Google Shape;96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95950" y="21050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5"/>
          <p:cNvGrpSpPr/>
          <p:nvPr/>
        </p:nvGrpSpPr>
        <p:grpSpPr>
          <a:xfrm>
            <a:off x="5767388" y="1233488"/>
            <a:ext cx="1381200" cy="1819200"/>
            <a:chOff x="5767388" y="1233488"/>
            <a:chExt cx="1381200" cy="1819200"/>
          </a:xfrm>
        </p:grpSpPr>
        <p:pic>
          <p:nvPicPr>
            <p:cNvPr id="98" name="Google Shape;9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67388" y="1233488"/>
              <a:ext cx="1381200" cy="18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5"/>
            <p:cNvSpPr/>
            <p:nvPr/>
          </p:nvSpPr>
          <p:spPr>
            <a:xfrm>
              <a:off x="5772150" y="1238250"/>
              <a:ext cx="1371600" cy="38100"/>
            </a:xfrm>
            <a:prstGeom prst="roundRect">
              <a:avLst>
                <a:gd fmla="val 50000" name="adj"/>
              </a:avLst>
            </a:prstGeom>
            <a:solidFill>
              <a:srgbClr val="E56B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5886450" y="1390650"/>
              <a:ext cx="1143000" cy="15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E56B3D"/>
                  </a:solidFill>
                  <a:latin typeface="Open Sans"/>
                  <a:ea typeface="Open Sans"/>
                  <a:cs typeface="Open Sans"/>
                  <a:sym typeface="Open Sans"/>
                </a:rPr>
                <a:t>STAGE 04</a:t>
              </a:r>
              <a:endParaRPr b="1" sz="800">
                <a:solidFill>
                  <a:srgbClr val="E56B3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1F2937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RECOMMEND</a:t>
              </a:r>
              <a:endParaRPr b="0" sz="1100">
                <a:solidFill>
                  <a:srgbClr val="1F2937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Strategic Actions</a:t>
              </a:r>
              <a:endParaRPr b="0" sz="95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1" name="Google Shape;101;p15"/>
          <p:cNvGrpSpPr/>
          <p:nvPr/>
        </p:nvGrpSpPr>
        <p:grpSpPr>
          <a:xfrm>
            <a:off x="7143750" y="2105025"/>
            <a:ext cx="361950" cy="76200"/>
            <a:chOff x="7143750" y="2105025"/>
            <a:chExt cx="361950" cy="76200"/>
          </a:xfrm>
        </p:grpSpPr>
        <p:cxnSp>
          <p:nvCxnSpPr>
            <p:cNvPr id="102" name="Google Shape;102;p15"/>
            <p:cNvCxnSpPr/>
            <p:nvPr/>
          </p:nvCxnSpPr>
          <p:spPr>
            <a:xfrm>
              <a:off x="7143750" y="2143125"/>
              <a:ext cx="285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46A3A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03" name="Google Shape;103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429500" y="21050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5"/>
          <p:cNvGrpSpPr/>
          <p:nvPr/>
        </p:nvGrpSpPr>
        <p:grpSpPr>
          <a:xfrm>
            <a:off x="7500938" y="1233488"/>
            <a:ext cx="1381200" cy="1819200"/>
            <a:chOff x="7500938" y="1233488"/>
            <a:chExt cx="1381200" cy="1819200"/>
          </a:xfrm>
        </p:grpSpPr>
        <p:pic>
          <p:nvPicPr>
            <p:cNvPr id="105" name="Google Shape;10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00938" y="1233488"/>
              <a:ext cx="1381200" cy="18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5"/>
            <p:cNvSpPr/>
            <p:nvPr/>
          </p:nvSpPr>
          <p:spPr>
            <a:xfrm>
              <a:off x="7505700" y="1238250"/>
              <a:ext cx="1371600" cy="38100"/>
            </a:xfrm>
            <a:prstGeom prst="roundRect">
              <a:avLst>
                <a:gd fmla="val 50000" name="adj"/>
              </a:avLst>
            </a:prstGeom>
            <a:solidFill>
              <a:srgbClr val="F46A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7620000" y="1390650"/>
              <a:ext cx="1143000" cy="15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F46A3A"/>
                  </a:solidFill>
                  <a:latin typeface="Open Sans"/>
                  <a:ea typeface="Open Sans"/>
                  <a:cs typeface="Open Sans"/>
                  <a:sym typeface="Open Sans"/>
                </a:rPr>
                <a:t>STAGE 05</a:t>
              </a:r>
              <a:endParaRPr b="1" sz="800">
                <a:solidFill>
                  <a:srgbClr val="F46A3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1F2937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MEASURE</a:t>
              </a:r>
              <a:endParaRPr b="0" sz="1100">
                <a:solidFill>
                  <a:srgbClr val="1F2937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Program Impact</a:t>
              </a:r>
              <a:endParaRPr b="0" sz="95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8" name="Google Shape;108;p15"/>
          <p:cNvGrpSpPr/>
          <p:nvPr/>
        </p:nvGrpSpPr>
        <p:grpSpPr>
          <a:xfrm>
            <a:off x="571500" y="3524250"/>
            <a:ext cx="8001000" cy="1276200"/>
            <a:chOff x="571500" y="3524250"/>
            <a:chExt cx="8001000" cy="1276200"/>
          </a:xfrm>
        </p:grpSpPr>
        <p:pic>
          <p:nvPicPr>
            <p:cNvPr id="109" name="Google Shape;109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71500" y="3524250"/>
              <a:ext cx="8001000" cy="7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5"/>
            <p:cNvSpPr txBox="1"/>
            <p:nvPr/>
          </p:nvSpPr>
          <p:spPr>
            <a:xfrm>
              <a:off x="571500" y="3524250"/>
              <a:ext cx="8001000" cy="12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</p:grpSp>
      <p:grpSp>
        <p:nvGrpSpPr>
          <p:cNvPr id="111" name="Google Shape;111;p15"/>
          <p:cNvGrpSpPr/>
          <p:nvPr/>
        </p:nvGrpSpPr>
        <p:grpSpPr>
          <a:xfrm>
            <a:off x="749925" y="3730132"/>
            <a:ext cx="7644155" cy="864446"/>
            <a:chOff x="571500" y="3524250"/>
            <a:chExt cx="8001000" cy="904800"/>
          </a:xfrm>
        </p:grpSpPr>
        <p:sp>
          <p:nvSpPr>
            <p:cNvPr id="112" name="Google Shape;112;p15"/>
            <p:cNvSpPr/>
            <p:nvPr/>
          </p:nvSpPr>
          <p:spPr>
            <a:xfrm>
              <a:off x="571500" y="3524250"/>
              <a:ext cx="8001000" cy="9048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136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" name="Google Shape;113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71500" y="3524250"/>
              <a:ext cx="57300" cy="9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5"/>
            <p:cNvSpPr txBox="1"/>
            <p:nvPr/>
          </p:nvSpPr>
          <p:spPr>
            <a:xfrm>
              <a:off x="857250" y="3667125"/>
              <a:ext cx="7429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6B728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PROJECT ULTIMATE DELIVERABLE FRAMEWORK</a:t>
              </a:r>
              <a:endParaRPr b="1" sz="1100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857250" y="3905250"/>
              <a:ext cx="742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20">
                  <a:solidFill>
                    <a:srgbClr val="1F2937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DATA </a:t>
              </a:r>
              <a:r>
                <a:rPr b="1" lang="en-GB" sz="2020">
                  <a:solidFill>
                    <a:srgbClr val="CB46B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→</a:t>
              </a:r>
              <a:r>
                <a:rPr b="1" lang="en-GB" sz="2020">
                  <a:solidFill>
                    <a:srgbClr val="1F2937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INSIGHTS </a:t>
              </a:r>
              <a:r>
                <a:rPr b="1" lang="en-GB" sz="2020">
                  <a:solidFill>
                    <a:srgbClr val="CB46B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→</a:t>
              </a:r>
              <a:r>
                <a:rPr b="1" lang="en-GB" sz="2020">
                  <a:solidFill>
                    <a:srgbClr val="1F2937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DECISIONS </a:t>
              </a:r>
              <a:r>
                <a:rPr b="1" lang="en-GB" sz="2020">
                  <a:solidFill>
                    <a:srgbClr val="CB46B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→</a:t>
              </a:r>
              <a:r>
                <a:rPr b="1" lang="en-GB" sz="2020">
                  <a:solidFill>
                    <a:srgbClr val="1F2937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IMPACT</a:t>
              </a:r>
              <a:endParaRPr b="1" sz="2020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76250" y="285750"/>
            <a:ext cx="8191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40">
                <a:solidFill>
                  <a:srgbClr val="1F2937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Dataset Overview</a:t>
            </a:r>
            <a:endParaRPr sz="2440">
              <a:solidFill>
                <a:srgbClr val="1F2937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B728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8,558 participation records across 16 features</a:t>
            </a:r>
            <a:endParaRPr sz="1100">
              <a:solidFill>
                <a:srgbClr val="6B728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grpSp>
        <p:nvGrpSpPr>
          <p:cNvPr id="122" name="Google Shape;122;p16"/>
          <p:cNvGrpSpPr/>
          <p:nvPr/>
        </p:nvGrpSpPr>
        <p:grpSpPr>
          <a:xfrm>
            <a:off x="476250" y="1000125"/>
            <a:ext cx="8001000" cy="1047900"/>
            <a:chOff x="476250" y="1000125"/>
            <a:chExt cx="8001000" cy="1047900"/>
          </a:xfrm>
        </p:grpSpPr>
        <p:grpSp>
          <p:nvGrpSpPr>
            <p:cNvPr id="123" name="Google Shape;123;p16"/>
            <p:cNvGrpSpPr/>
            <p:nvPr/>
          </p:nvGrpSpPr>
          <p:grpSpPr>
            <a:xfrm>
              <a:off x="476250" y="1000125"/>
              <a:ext cx="1714500" cy="1047900"/>
              <a:chOff x="476250" y="1000125"/>
              <a:chExt cx="1714500" cy="1047900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476250" y="1000125"/>
                <a:ext cx="17145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DF4FD"/>
              </a:solidFill>
              <a:ln cap="flat" cmpd="sng" w="14300">
                <a:solidFill>
                  <a:srgbClr val="CB46B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6"/>
              <p:cNvSpPr/>
              <p:nvPr/>
            </p:nvSpPr>
            <p:spPr>
              <a:xfrm>
                <a:off x="476250" y="1000125"/>
                <a:ext cx="1714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CB46B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6"/>
              <p:cNvSpPr txBox="1"/>
              <p:nvPr/>
            </p:nvSpPr>
            <p:spPr>
              <a:xfrm>
                <a:off x="619125" y="1171575"/>
                <a:ext cx="1428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CB46B1"/>
                    </a:solidFill>
                    <a:latin typeface="Inter"/>
                    <a:ea typeface="Inter"/>
                    <a:cs typeface="Inter"/>
                    <a:sym typeface="Inter"/>
                  </a:rPr>
                  <a:t>L</a:t>
                </a:r>
                <a:r>
                  <a:rPr b="1" lang="en-GB" sz="100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EARNER</a:t>
                </a:r>
                <a:endParaRPr b="1" sz="10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GB" sz="950">
                    <a:solidFill>
                      <a:srgbClr val="1F2937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• Demographics</a:t>
                </a:r>
                <a:endParaRPr sz="950">
                  <a:solidFill>
                    <a:srgbClr val="1F2937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950">
                    <a:solidFill>
                      <a:srgbClr val="1F2937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• Academic Profile</a:t>
                </a:r>
                <a:endParaRPr sz="950">
                  <a:solidFill>
                    <a:srgbClr val="1F2937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950">
                    <a:solidFill>
                      <a:srgbClr val="1F2937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• Geography</a:t>
                </a:r>
                <a:endParaRPr sz="950">
                  <a:solidFill>
                    <a:srgbClr val="1F2937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</p:txBody>
          </p:sp>
        </p:grpSp>
        <p:pic>
          <p:nvPicPr>
            <p:cNvPr id="127" name="Google Shape;12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90750" y="1514475"/>
              <a:ext cx="3048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95550" y="148590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9" name="Google Shape;129;p16"/>
            <p:cNvGrpSpPr/>
            <p:nvPr/>
          </p:nvGrpSpPr>
          <p:grpSpPr>
            <a:xfrm>
              <a:off x="2571750" y="1000125"/>
              <a:ext cx="1714500" cy="1047900"/>
              <a:chOff x="2571750" y="1000125"/>
              <a:chExt cx="1714500" cy="1047900"/>
            </a:xfrm>
          </p:grpSpPr>
          <p:sp>
            <p:nvSpPr>
              <p:cNvPr id="130" name="Google Shape;130;p16"/>
              <p:cNvSpPr/>
              <p:nvPr/>
            </p:nvSpPr>
            <p:spPr>
              <a:xfrm>
                <a:off x="2571750" y="1000125"/>
                <a:ext cx="17145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FF8F5"/>
              </a:solidFill>
              <a:ln cap="flat" cmpd="sng" w="14300">
                <a:solidFill>
                  <a:srgbClr val="F46A3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6"/>
              <p:cNvSpPr/>
              <p:nvPr/>
            </p:nvSpPr>
            <p:spPr>
              <a:xfrm>
                <a:off x="2571750" y="1000125"/>
                <a:ext cx="1714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F46A3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6"/>
              <p:cNvSpPr txBox="1"/>
              <p:nvPr/>
            </p:nvSpPr>
            <p:spPr>
              <a:xfrm>
                <a:off x="2714625" y="1171575"/>
                <a:ext cx="1428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F46A3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OPPORTUNITY</a:t>
                </a:r>
                <a:endParaRPr b="1" sz="1000">
                  <a:solidFill>
                    <a:srgbClr val="F46A3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GB" sz="950">
                    <a:solidFill>
                      <a:srgbClr val="1F2937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• Category</a:t>
                </a:r>
                <a:endParaRPr sz="950">
                  <a:solidFill>
                    <a:srgbClr val="1F2937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950">
                    <a:solidFill>
                      <a:srgbClr val="1F2937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• Duration</a:t>
                </a:r>
                <a:endParaRPr sz="950">
                  <a:solidFill>
                    <a:srgbClr val="1F2937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950">
                    <a:solidFill>
                      <a:srgbClr val="1F2937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• Opportunity Details</a:t>
                </a:r>
                <a:endParaRPr sz="950">
                  <a:solidFill>
                    <a:srgbClr val="1F2937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</p:txBody>
          </p:sp>
        </p:grpSp>
        <p:pic>
          <p:nvPicPr>
            <p:cNvPr id="133" name="Google Shape;13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86250" y="1514475"/>
              <a:ext cx="3048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91050" y="148590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5" name="Google Shape;135;p16"/>
            <p:cNvGrpSpPr/>
            <p:nvPr/>
          </p:nvGrpSpPr>
          <p:grpSpPr>
            <a:xfrm>
              <a:off x="4667250" y="1000125"/>
              <a:ext cx="1714500" cy="1047900"/>
              <a:chOff x="4667250" y="1000125"/>
              <a:chExt cx="1714500" cy="1047900"/>
            </a:xfrm>
          </p:grpSpPr>
          <p:sp>
            <p:nvSpPr>
              <p:cNvPr id="136" name="Google Shape;136;p16"/>
              <p:cNvSpPr/>
              <p:nvPr/>
            </p:nvSpPr>
            <p:spPr>
              <a:xfrm>
                <a:off x="4667250" y="1000125"/>
                <a:ext cx="17145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FF8F5"/>
              </a:solidFill>
              <a:ln cap="flat" cmpd="sng" w="14300">
                <a:solidFill>
                  <a:srgbClr val="F46A3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6"/>
              <p:cNvSpPr/>
              <p:nvPr/>
            </p:nvSpPr>
            <p:spPr>
              <a:xfrm>
                <a:off x="4667250" y="1000125"/>
                <a:ext cx="1714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F46A3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6"/>
              <p:cNvSpPr txBox="1"/>
              <p:nvPr/>
            </p:nvSpPr>
            <p:spPr>
              <a:xfrm>
                <a:off x="4810125" y="1171575"/>
                <a:ext cx="1428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F46A3A"/>
                    </a:solidFill>
                    <a:latin typeface="Inter"/>
                    <a:ea typeface="Inter"/>
                    <a:cs typeface="Inter"/>
                    <a:sym typeface="Inter"/>
                  </a:rPr>
                  <a:t>R</a:t>
                </a:r>
                <a:r>
                  <a:rPr b="1" lang="en-GB" sz="1000">
                    <a:solidFill>
                      <a:srgbClr val="F46A3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EGISTRATION</a:t>
                </a:r>
                <a:endParaRPr b="1" sz="1000">
                  <a:solidFill>
                    <a:srgbClr val="F46A3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GB" sz="950">
                    <a:solidFill>
                      <a:srgbClr val="1F2937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• Signup Date</a:t>
                </a:r>
                <a:endParaRPr sz="950">
                  <a:solidFill>
                    <a:srgbClr val="1F2937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950">
                    <a:solidFill>
                      <a:srgbClr val="1F2937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• Application Date</a:t>
                </a:r>
                <a:endParaRPr sz="950">
                  <a:solidFill>
                    <a:srgbClr val="1F2937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950">
                    <a:solidFill>
                      <a:srgbClr val="1F2937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• Timing</a:t>
                </a:r>
                <a:endParaRPr sz="950">
                  <a:solidFill>
                    <a:srgbClr val="1F2937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</p:txBody>
          </p:sp>
        </p:grpSp>
        <p:pic>
          <p:nvPicPr>
            <p:cNvPr id="139" name="Google Shape;139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81750" y="1514475"/>
              <a:ext cx="3048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86550" y="148590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" name="Google Shape;141;p16"/>
            <p:cNvGrpSpPr/>
            <p:nvPr/>
          </p:nvGrpSpPr>
          <p:grpSpPr>
            <a:xfrm>
              <a:off x="6762750" y="1000125"/>
              <a:ext cx="1714500" cy="1047900"/>
              <a:chOff x="6762750" y="1000125"/>
              <a:chExt cx="1714500" cy="1047900"/>
            </a:xfrm>
          </p:grpSpPr>
          <p:sp>
            <p:nvSpPr>
              <p:cNvPr id="142" name="Google Shape;142;p16"/>
              <p:cNvSpPr/>
              <p:nvPr/>
            </p:nvSpPr>
            <p:spPr>
              <a:xfrm>
                <a:off x="6762750" y="1000125"/>
                <a:ext cx="17145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FDF4FD"/>
              </a:solidFill>
              <a:ln cap="flat" cmpd="sng" w="14300">
                <a:solidFill>
                  <a:srgbClr val="CB46B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6"/>
              <p:cNvSpPr/>
              <p:nvPr/>
            </p:nvSpPr>
            <p:spPr>
              <a:xfrm>
                <a:off x="6762750" y="1000125"/>
                <a:ext cx="1714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CB46B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6"/>
              <p:cNvSpPr txBox="1"/>
              <p:nvPr/>
            </p:nvSpPr>
            <p:spPr>
              <a:xfrm>
                <a:off x="6905625" y="1171575"/>
                <a:ext cx="1428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OUTCOME</a:t>
                </a:r>
                <a:endParaRPr b="1" sz="10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300"/>
                  </a:spcAft>
                  <a:buNone/>
                </a:pPr>
                <a:r>
                  <a:rPr lang="en-GB" sz="950">
                    <a:solidFill>
                      <a:srgbClr val="1F2937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• Participation Status</a:t>
                </a:r>
                <a:endParaRPr sz="950">
                  <a:solidFill>
                    <a:srgbClr val="1F2937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</p:txBody>
          </p:sp>
        </p:grpSp>
      </p:grpSp>
      <p:grpSp>
        <p:nvGrpSpPr>
          <p:cNvPr id="145" name="Google Shape;145;p16"/>
          <p:cNvGrpSpPr/>
          <p:nvPr/>
        </p:nvGrpSpPr>
        <p:grpSpPr>
          <a:xfrm>
            <a:off x="476250" y="2286000"/>
            <a:ext cx="8191500" cy="1095300"/>
            <a:chOff x="476250" y="2286000"/>
            <a:chExt cx="8191500" cy="1095300"/>
          </a:xfrm>
        </p:grpSpPr>
        <p:sp>
          <p:nvSpPr>
            <p:cNvPr id="146" name="Google Shape;146;p16"/>
            <p:cNvSpPr/>
            <p:nvPr/>
          </p:nvSpPr>
          <p:spPr>
            <a:xfrm>
              <a:off x="476250" y="2286000"/>
              <a:ext cx="24765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666750" y="2531745"/>
              <a:ext cx="706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665">
                  <a:solidFill>
                    <a:srgbClr val="CB46B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8,558</a:t>
              </a:r>
              <a:endParaRPr b="0" sz="1665">
                <a:solidFill>
                  <a:srgbClr val="CB46B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666750" y="2861310"/>
              <a:ext cx="1174200" cy="1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13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Participation Records</a:t>
              </a:r>
              <a:endParaRPr b="1" sz="713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666750" y="3000375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Total observations of learner applications and registrations.</a:t>
              </a:r>
              <a:endParaRPr b="0" sz="85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3333750" y="2286000"/>
              <a:ext cx="24765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 txBox="1"/>
            <p:nvPr/>
          </p:nvSpPr>
          <p:spPr>
            <a:xfrm>
              <a:off x="3524250" y="2531745"/>
              <a:ext cx="2826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665">
                  <a:solidFill>
                    <a:srgbClr val="CB46B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16</a:t>
              </a:r>
              <a:endParaRPr b="0" sz="1665">
                <a:solidFill>
                  <a:srgbClr val="CB46B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3524250" y="2861310"/>
              <a:ext cx="447300" cy="1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13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Features</a:t>
              </a:r>
              <a:endParaRPr b="1" sz="713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3524250" y="3000375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Data dimensions capturing learner, opportunity, and status traits.</a:t>
              </a:r>
              <a:endParaRPr b="0" sz="85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6191250" y="2286000"/>
              <a:ext cx="24765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6381750" y="2531745"/>
              <a:ext cx="2826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665">
                  <a:solidFill>
                    <a:srgbClr val="CB46B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70</a:t>
              </a:r>
              <a:endParaRPr b="0" sz="1665">
                <a:solidFill>
                  <a:srgbClr val="CB46B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56" name="Google Shape;156;p16"/>
            <p:cNvSpPr txBox="1"/>
            <p:nvPr/>
          </p:nvSpPr>
          <p:spPr>
            <a:xfrm>
              <a:off x="6381750" y="2861310"/>
              <a:ext cx="1174200" cy="1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13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Countries Represented</a:t>
              </a:r>
              <a:endParaRPr b="1" sz="713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7" name="Google Shape;157;p16"/>
            <p:cNvSpPr txBox="1"/>
            <p:nvPr/>
          </p:nvSpPr>
          <p:spPr>
            <a:xfrm>
              <a:off x="6381750" y="3000375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Global reach identified through core geographical analysis.</a:t>
              </a:r>
              <a:endParaRPr b="0" sz="85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8" name="Google Shape;158;p16"/>
          <p:cNvGrpSpPr/>
          <p:nvPr/>
        </p:nvGrpSpPr>
        <p:grpSpPr>
          <a:xfrm>
            <a:off x="476250" y="3619500"/>
            <a:ext cx="8191500" cy="809700"/>
            <a:chOff x="476250" y="3619500"/>
            <a:chExt cx="8191500" cy="809700"/>
          </a:xfrm>
        </p:grpSpPr>
        <p:sp>
          <p:nvSpPr>
            <p:cNvPr id="159" name="Google Shape;159;p16"/>
            <p:cNvSpPr/>
            <p:nvPr/>
          </p:nvSpPr>
          <p:spPr>
            <a:xfrm>
              <a:off x="476250" y="3619500"/>
              <a:ext cx="8191500" cy="8097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0" name="Google Shape;160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6250" y="3619500"/>
              <a:ext cx="57300" cy="80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6"/>
            <p:cNvSpPr txBox="1"/>
            <p:nvPr/>
          </p:nvSpPr>
          <p:spPr>
            <a:xfrm>
              <a:off x="714375" y="3762375"/>
              <a:ext cx="7715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CB46B1"/>
                  </a:solidFill>
                  <a:latin typeface="Inter"/>
                  <a:ea typeface="Inter"/>
                  <a:cs typeface="Inter"/>
                  <a:sym typeface="Inter"/>
                </a:rPr>
                <a:t>PROJECT ULTIMATE DELIVERABLE FRAMEWORK</a:t>
              </a:r>
              <a:endParaRPr b="1" sz="850">
                <a:solidFill>
                  <a:srgbClr val="CB46B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single dataset connects learner characteristics, opportunity attributes, registration behaviour, and participation outcomes.</a:t>
              </a:r>
              <a:endParaRPr b="0" sz="105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17"/>
          <p:cNvGrpSpPr/>
          <p:nvPr/>
        </p:nvGrpSpPr>
        <p:grpSpPr>
          <a:xfrm>
            <a:off x="476250" y="238125"/>
            <a:ext cx="8191500" cy="536998"/>
            <a:chOff x="476250" y="238125"/>
            <a:chExt cx="8191500" cy="536998"/>
          </a:xfrm>
        </p:grpSpPr>
        <p:sp>
          <p:nvSpPr>
            <p:cNvPr id="168" name="Google Shape;168;p17"/>
            <p:cNvSpPr txBox="1"/>
            <p:nvPr/>
          </p:nvSpPr>
          <p:spPr>
            <a:xfrm>
              <a:off x="476250" y="238125"/>
              <a:ext cx="8191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A1A1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Historical Participation Insights</a:t>
              </a:r>
              <a:endParaRPr sz="2400">
                <a:solidFill>
                  <a:srgbClr val="1A1A1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476250" y="536923"/>
              <a:ext cx="819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Participation is concentrated by opportunity type and geography, while registration activity shows clear temporal patterns.</a:t>
              </a:r>
              <a:endParaRPr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0" name="Google Shape;170;p17"/>
          <p:cNvGrpSpPr/>
          <p:nvPr/>
        </p:nvGrpSpPr>
        <p:grpSpPr>
          <a:xfrm>
            <a:off x="476250" y="904875"/>
            <a:ext cx="2600400" cy="2476500"/>
            <a:chOff x="476250" y="904875"/>
            <a:chExt cx="2600400" cy="2476500"/>
          </a:xfrm>
        </p:grpSpPr>
        <p:sp>
          <p:nvSpPr>
            <p:cNvPr id="171" name="Google Shape;171;p17"/>
            <p:cNvSpPr/>
            <p:nvPr/>
          </p:nvSpPr>
          <p:spPr>
            <a:xfrm>
              <a:off x="476250" y="904875"/>
              <a:ext cx="26004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>
              <a:solidFill>
                <a:srgbClr val="E2E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2" name="Google Shape;172;p17"/>
            <p:cNvCxnSpPr/>
            <p:nvPr/>
          </p:nvCxnSpPr>
          <p:spPr>
            <a:xfrm>
              <a:off x="476250" y="904875"/>
              <a:ext cx="26004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CB46B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3" name="Google Shape;173;p17"/>
            <p:cNvSpPr txBox="1"/>
            <p:nvPr/>
          </p:nvSpPr>
          <p:spPr>
            <a:xfrm>
              <a:off x="619125" y="1047750"/>
              <a:ext cx="23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A1A1A"/>
                  </a:solidFill>
                  <a:latin typeface="Open Sans"/>
                  <a:ea typeface="Open Sans"/>
                  <a:cs typeface="Open Sans"/>
                  <a:sym typeface="Open Sans"/>
                </a:rPr>
                <a:t>1. Participation by Opportunity</a:t>
              </a:r>
              <a:endParaRPr b="1" sz="1050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74" name="Google Shape;174;p17"/>
            <p:cNvGrpSpPr/>
            <p:nvPr/>
          </p:nvGrpSpPr>
          <p:grpSpPr>
            <a:xfrm>
              <a:off x="619125" y="1362075"/>
              <a:ext cx="2205300" cy="914055"/>
              <a:chOff x="0" y="28575"/>
              <a:chExt cx="2205300" cy="914055"/>
            </a:xfrm>
          </p:grpSpPr>
          <p:sp>
            <p:nvSpPr>
              <p:cNvPr id="175" name="Google Shape;175;p17"/>
              <p:cNvSpPr txBox="1"/>
              <p:nvPr/>
            </p:nvSpPr>
            <p:spPr>
              <a:xfrm>
                <a:off x="0" y="49530"/>
                <a:ext cx="5004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42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Internship</a:t>
                </a:r>
                <a:endParaRPr b="0" sz="542">
                  <a:solidFill>
                    <a:srgbClr val="47556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176" name="Google Shape;176;p17"/>
              <p:cNvSpPr/>
              <p:nvPr/>
            </p:nvSpPr>
            <p:spPr>
              <a:xfrm>
                <a:off x="762000" y="28575"/>
                <a:ext cx="10860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CB46B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7"/>
              <p:cNvSpPr txBox="1"/>
              <p:nvPr/>
            </p:nvSpPr>
            <p:spPr>
              <a:xfrm>
                <a:off x="1905000" y="49530"/>
                <a:ext cx="3003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42">
                    <a:solidFill>
                      <a:srgbClr val="1A1A1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63.34%</a:t>
                </a:r>
                <a:endParaRPr b="1" sz="542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8" name="Google Shape;178;p17"/>
              <p:cNvSpPr txBox="1"/>
              <p:nvPr/>
            </p:nvSpPr>
            <p:spPr>
              <a:xfrm>
                <a:off x="0" y="240030"/>
                <a:ext cx="3003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42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Course</a:t>
                </a:r>
                <a:endParaRPr b="0" sz="542">
                  <a:solidFill>
                    <a:srgbClr val="47556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179" name="Google Shape;179;p17"/>
              <p:cNvSpPr/>
              <p:nvPr/>
            </p:nvSpPr>
            <p:spPr>
              <a:xfrm>
                <a:off x="762000" y="219075"/>
                <a:ext cx="4095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F46A3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7"/>
              <p:cNvSpPr txBox="1"/>
              <p:nvPr/>
            </p:nvSpPr>
            <p:spPr>
              <a:xfrm>
                <a:off x="1238250" y="240030"/>
                <a:ext cx="3003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42">
                    <a:solidFill>
                      <a:srgbClr val="1A1A1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23.80%</a:t>
                </a:r>
                <a:endParaRPr b="1" sz="542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1" name="Google Shape;181;p17"/>
              <p:cNvSpPr txBox="1"/>
              <p:nvPr/>
            </p:nvSpPr>
            <p:spPr>
              <a:xfrm>
                <a:off x="0" y="430530"/>
                <a:ext cx="2502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42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Event</a:t>
                </a:r>
                <a:endParaRPr b="0" sz="542">
                  <a:solidFill>
                    <a:srgbClr val="47556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182" name="Google Shape;182;p17"/>
              <p:cNvSpPr/>
              <p:nvPr/>
            </p:nvSpPr>
            <p:spPr>
              <a:xfrm>
                <a:off x="762000" y="409575"/>
                <a:ext cx="104700" cy="114300"/>
              </a:xfrm>
              <a:prstGeom prst="roundRect">
                <a:avLst>
                  <a:gd fmla="val 18181" name="adj"/>
                </a:avLst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7"/>
              <p:cNvSpPr txBox="1"/>
              <p:nvPr/>
            </p:nvSpPr>
            <p:spPr>
              <a:xfrm>
                <a:off x="933450" y="430530"/>
                <a:ext cx="2502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42">
                    <a:solidFill>
                      <a:srgbClr val="1A1A1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6.37%</a:t>
                </a:r>
                <a:endParaRPr b="1" sz="542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4" name="Google Shape;184;p17"/>
              <p:cNvSpPr txBox="1"/>
              <p:nvPr/>
            </p:nvSpPr>
            <p:spPr>
              <a:xfrm>
                <a:off x="0" y="621030"/>
                <a:ext cx="5505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42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Competition</a:t>
                </a:r>
                <a:endParaRPr b="0" sz="542">
                  <a:solidFill>
                    <a:srgbClr val="47556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762000" y="600075"/>
                <a:ext cx="85800" cy="114300"/>
              </a:xfrm>
              <a:prstGeom prst="roundRect">
                <a:avLst>
                  <a:gd fmla="val 22222" name="adj"/>
                </a:avLst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7"/>
              <p:cNvSpPr txBox="1"/>
              <p:nvPr/>
            </p:nvSpPr>
            <p:spPr>
              <a:xfrm>
                <a:off x="914400" y="621030"/>
                <a:ext cx="2502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42">
                    <a:solidFill>
                      <a:srgbClr val="1A1A1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4.97%</a:t>
                </a:r>
                <a:endParaRPr b="1" sz="542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7" name="Google Shape;187;p17"/>
              <p:cNvSpPr txBox="1"/>
              <p:nvPr/>
            </p:nvSpPr>
            <p:spPr>
              <a:xfrm>
                <a:off x="0" y="811530"/>
                <a:ext cx="5004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42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Engagement</a:t>
                </a:r>
                <a:endParaRPr b="0" sz="542">
                  <a:solidFill>
                    <a:srgbClr val="47556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188" name="Google Shape;188;p17"/>
              <p:cNvSpPr/>
              <p:nvPr/>
            </p:nvSpPr>
            <p:spPr>
              <a:xfrm>
                <a:off x="762000" y="790575"/>
                <a:ext cx="28500" cy="114300"/>
              </a:xfrm>
              <a:prstGeom prst="roundRect">
                <a:avLst>
                  <a:gd fmla="val 50000" name="adj"/>
                </a:avLst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7"/>
              <p:cNvSpPr txBox="1"/>
              <p:nvPr/>
            </p:nvSpPr>
            <p:spPr>
              <a:xfrm>
                <a:off x="857250" y="811530"/>
                <a:ext cx="2502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42">
                    <a:solidFill>
                      <a:srgbClr val="1A1A1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1.52%</a:t>
                </a:r>
                <a:endParaRPr b="1" sz="542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90" name="Google Shape;190;p17"/>
            <p:cNvSpPr txBox="1"/>
            <p:nvPr/>
          </p:nvSpPr>
          <p:spPr>
            <a:xfrm>
              <a:off x="619125" y="2476500"/>
              <a:ext cx="23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KEY TAKEAWAY: </a:t>
              </a:r>
              <a:r>
                <a:rPr lang="en-GB" sz="8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Internships account for 63.34% of all participation, more than 2.6× the share of Courses.</a:t>
              </a:r>
              <a:endParaRPr sz="8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91" name="Google Shape;191;p17"/>
          <p:cNvGrpSpPr/>
          <p:nvPr/>
        </p:nvGrpSpPr>
        <p:grpSpPr>
          <a:xfrm>
            <a:off x="3267075" y="904875"/>
            <a:ext cx="2610000" cy="2476500"/>
            <a:chOff x="3267075" y="904875"/>
            <a:chExt cx="2610000" cy="2476500"/>
          </a:xfrm>
        </p:grpSpPr>
        <p:sp>
          <p:nvSpPr>
            <p:cNvPr id="192" name="Google Shape;192;p17"/>
            <p:cNvSpPr/>
            <p:nvPr/>
          </p:nvSpPr>
          <p:spPr>
            <a:xfrm>
              <a:off x="3267075" y="904875"/>
              <a:ext cx="26100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>
              <a:solidFill>
                <a:srgbClr val="E2E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3" name="Google Shape;193;p17"/>
            <p:cNvCxnSpPr/>
            <p:nvPr/>
          </p:nvCxnSpPr>
          <p:spPr>
            <a:xfrm>
              <a:off x="3267075" y="904875"/>
              <a:ext cx="26100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CB46B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4" name="Google Shape;194;p17"/>
            <p:cNvSpPr txBox="1"/>
            <p:nvPr/>
          </p:nvSpPr>
          <p:spPr>
            <a:xfrm>
              <a:off x="3409950" y="1047750"/>
              <a:ext cx="2324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A1A1A"/>
                  </a:solidFill>
                  <a:latin typeface="Open Sans"/>
                  <a:ea typeface="Open Sans"/>
                  <a:cs typeface="Open Sans"/>
                  <a:sym typeface="Open Sans"/>
                </a:rPr>
                <a:t>2. Geographic Participation</a:t>
              </a:r>
              <a:endParaRPr b="1" sz="1050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95" name="Google Shape;195;p17"/>
            <p:cNvGrpSpPr/>
            <p:nvPr/>
          </p:nvGrpSpPr>
          <p:grpSpPr>
            <a:xfrm>
              <a:off x="3409950" y="1362075"/>
              <a:ext cx="2186250" cy="914055"/>
              <a:chOff x="0" y="28575"/>
              <a:chExt cx="2186250" cy="914055"/>
            </a:xfrm>
          </p:grpSpPr>
          <p:sp>
            <p:nvSpPr>
              <p:cNvPr id="196" name="Google Shape;196;p17"/>
              <p:cNvSpPr txBox="1"/>
              <p:nvPr/>
            </p:nvSpPr>
            <p:spPr>
              <a:xfrm>
                <a:off x="0" y="49530"/>
                <a:ext cx="6504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42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United States</a:t>
                </a:r>
                <a:endParaRPr b="0" sz="542">
                  <a:solidFill>
                    <a:srgbClr val="47556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762000" y="28575"/>
                <a:ext cx="10668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CB46B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7"/>
              <p:cNvSpPr txBox="1"/>
              <p:nvPr/>
            </p:nvSpPr>
            <p:spPr>
              <a:xfrm>
                <a:off x="1885950" y="49530"/>
                <a:ext cx="3003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42">
                    <a:solidFill>
                      <a:srgbClr val="1A1A1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46.46%</a:t>
                </a:r>
                <a:endParaRPr b="1" sz="542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9" name="Google Shape;199;p17"/>
              <p:cNvSpPr txBox="1"/>
              <p:nvPr/>
            </p:nvSpPr>
            <p:spPr>
              <a:xfrm>
                <a:off x="0" y="240030"/>
                <a:ext cx="2502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42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India</a:t>
                </a:r>
                <a:endParaRPr b="0" sz="542">
                  <a:solidFill>
                    <a:srgbClr val="47556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762000" y="219075"/>
                <a:ext cx="7620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CB46B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7"/>
              <p:cNvSpPr txBox="1"/>
              <p:nvPr/>
            </p:nvSpPr>
            <p:spPr>
              <a:xfrm>
                <a:off x="1581150" y="240030"/>
                <a:ext cx="3003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42">
                    <a:solidFill>
                      <a:srgbClr val="1A1A1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33.14%</a:t>
                </a:r>
                <a:endParaRPr b="1" sz="542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2" name="Google Shape;202;p17"/>
              <p:cNvSpPr txBox="1"/>
              <p:nvPr/>
            </p:nvSpPr>
            <p:spPr>
              <a:xfrm>
                <a:off x="0" y="430530"/>
                <a:ext cx="3501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42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Nigeria</a:t>
                </a:r>
                <a:endParaRPr b="0" sz="542">
                  <a:solidFill>
                    <a:srgbClr val="47556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203" name="Google Shape;203;p17"/>
              <p:cNvSpPr/>
              <p:nvPr/>
            </p:nvSpPr>
            <p:spPr>
              <a:xfrm>
                <a:off x="762000" y="409575"/>
                <a:ext cx="2001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7"/>
              <p:cNvSpPr txBox="1"/>
              <p:nvPr/>
            </p:nvSpPr>
            <p:spPr>
              <a:xfrm>
                <a:off x="1028700" y="430530"/>
                <a:ext cx="2502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42">
                    <a:solidFill>
                      <a:srgbClr val="1A1A1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8.88%</a:t>
                </a:r>
                <a:endParaRPr b="1" sz="542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5" name="Google Shape;205;p17"/>
              <p:cNvSpPr txBox="1"/>
              <p:nvPr/>
            </p:nvSpPr>
            <p:spPr>
              <a:xfrm>
                <a:off x="0" y="621030"/>
                <a:ext cx="2502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42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Ghana</a:t>
                </a:r>
                <a:endParaRPr b="0" sz="542">
                  <a:solidFill>
                    <a:srgbClr val="47556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206" name="Google Shape;206;p17"/>
              <p:cNvSpPr/>
              <p:nvPr/>
            </p:nvSpPr>
            <p:spPr>
              <a:xfrm>
                <a:off x="762000" y="600075"/>
                <a:ext cx="762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7"/>
              <p:cNvSpPr txBox="1"/>
              <p:nvPr/>
            </p:nvSpPr>
            <p:spPr>
              <a:xfrm>
                <a:off x="904875" y="621030"/>
                <a:ext cx="2502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42">
                    <a:solidFill>
                      <a:srgbClr val="1A1A1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3.21%</a:t>
                </a:r>
                <a:endParaRPr b="1" sz="542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8" name="Google Shape;208;p17"/>
              <p:cNvSpPr txBox="1"/>
              <p:nvPr/>
            </p:nvSpPr>
            <p:spPr>
              <a:xfrm>
                <a:off x="0" y="811530"/>
                <a:ext cx="4002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42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Pakistan</a:t>
                </a:r>
                <a:endParaRPr b="0" sz="542">
                  <a:solidFill>
                    <a:srgbClr val="475569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209" name="Google Shape;209;p17"/>
              <p:cNvSpPr/>
              <p:nvPr/>
            </p:nvSpPr>
            <p:spPr>
              <a:xfrm>
                <a:off x="762000" y="790575"/>
                <a:ext cx="57300" cy="114300"/>
              </a:xfrm>
              <a:prstGeom prst="roundRect">
                <a:avLst>
                  <a:gd fmla="val 33333" name="adj"/>
                </a:avLst>
              </a:prstGeom>
              <a:solidFill>
                <a:srgbClr val="CBD5E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7"/>
              <p:cNvSpPr txBox="1"/>
              <p:nvPr/>
            </p:nvSpPr>
            <p:spPr>
              <a:xfrm>
                <a:off x="885825" y="811530"/>
                <a:ext cx="250200" cy="1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42">
                    <a:solidFill>
                      <a:srgbClr val="1A1A1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2.56%</a:t>
                </a:r>
                <a:endParaRPr b="1" sz="542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11" name="Google Shape;211;p17"/>
            <p:cNvSpPr txBox="1"/>
            <p:nvPr/>
          </p:nvSpPr>
          <p:spPr>
            <a:xfrm>
              <a:off x="3409950" y="2476500"/>
              <a:ext cx="2324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88.48% FROM US, INDIA &amp; NIGERIA </a:t>
              </a:r>
              <a:br>
                <a:rPr lang="en-GB" sz="8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GB" sz="8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A highly concentrated global footprint spanning over 70 countries represented platform-wide.</a:t>
              </a:r>
              <a:endParaRPr sz="8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2" name="Google Shape;212;p17"/>
          <p:cNvGrpSpPr/>
          <p:nvPr/>
        </p:nvGrpSpPr>
        <p:grpSpPr>
          <a:xfrm>
            <a:off x="6067425" y="904875"/>
            <a:ext cx="2600400" cy="2476500"/>
            <a:chOff x="6067425" y="904875"/>
            <a:chExt cx="2600400" cy="2476500"/>
          </a:xfrm>
        </p:grpSpPr>
        <p:sp>
          <p:nvSpPr>
            <p:cNvPr id="213" name="Google Shape;213;p17"/>
            <p:cNvSpPr/>
            <p:nvPr/>
          </p:nvSpPr>
          <p:spPr>
            <a:xfrm>
              <a:off x="6067425" y="904875"/>
              <a:ext cx="26004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>
              <a:solidFill>
                <a:srgbClr val="E2E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4" name="Google Shape;214;p17"/>
            <p:cNvCxnSpPr/>
            <p:nvPr/>
          </p:nvCxnSpPr>
          <p:spPr>
            <a:xfrm>
              <a:off x="6067425" y="904875"/>
              <a:ext cx="26004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CB46B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5" name="Google Shape;215;p17"/>
            <p:cNvSpPr txBox="1"/>
            <p:nvPr/>
          </p:nvSpPr>
          <p:spPr>
            <a:xfrm>
              <a:off x="6210300" y="1047750"/>
              <a:ext cx="23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A1A1A"/>
                  </a:solidFill>
                  <a:latin typeface="Open Sans"/>
                  <a:ea typeface="Open Sans"/>
                  <a:cs typeface="Open Sans"/>
                  <a:sym typeface="Open Sans"/>
                </a:rPr>
                <a:t>3. Participation Growth</a:t>
              </a:r>
              <a:endParaRPr b="1" sz="1050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16" name="Google Shape;216;p17"/>
            <p:cNvGrpSpPr/>
            <p:nvPr/>
          </p:nvGrpSpPr>
          <p:grpSpPr>
            <a:xfrm>
              <a:off x="6219258" y="1316355"/>
              <a:ext cx="2275492" cy="991740"/>
              <a:chOff x="8958" y="30480"/>
              <a:chExt cx="2275492" cy="991740"/>
            </a:xfrm>
          </p:grpSpPr>
          <p:cxnSp>
            <p:nvCxnSpPr>
              <p:cNvPr id="217" name="Google Shape;217;p17"/>
              <p:cNvCxnSpPr/>
              <p:nvPr/>
            </p:nvCxnSpPr>
            <p:spPr>
              <a:xfrm>
                <a:off x="142875" y="857250"/>
                <a:ext cx="20001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pic>
            <p:nvPicPr>
              <p:cNvPr id="218" name="Google Shape;218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42875" y="280988"/>
                <a:ext cx="20001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9" name="Google Shape;219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38113" y="128588"/>
                <a:ext cx="2014500" cy="6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" name="Google Shape;220;p17"/>
              <p:cNvSpPr/>
              <p:nvPr/>
            </p:nvSpPr>
            <p:spPr>
              <a:xfrm>
                <a:off x="1104900" y="390525"/>
                <a:ext cx="76200" cy="76200"/>
              </a:xfrm>
              <a:prstGeom prst="ellipse">
                <a:avLst/>
              </a:prstGeom>
              <a:solidFill>
                <a:srgbClr val="CB46B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7"/>
              <p:cNvSpPr txBox="1"/>
              <p:nvPr/>
            </p:nvSpPr>
            <p:spPr>
              <a:xfrm>
                <a:off x="984066" y="306705"/>
                <a:ext cx="3180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45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Aug: ~700</a:t>
                </a:r>
                <a:endParaRPr b="1" sz="45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1438275" y="104775"/>
                <a:ext cx="76200" cy="76200"/>
              </a:xfrm>
              <a:prstGeom prst="ellipse">
                <a:avLst/>
              </a:prstGeom>
              <a:solidFill>
                <a:srgbClr val="CB46B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7"/>
              <p:cNvSpPr txBox="1"/>
              <p:nvPr/>
            </p:nvSpPr>
            <p:spPr>
              <a:xfrm>
                <a:off x="1282122" y="30480"/>
                <a:ext cx="3885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45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Jan: &gt;2,000</a:t>
                </a:r>
                <a:endParaRPr b="1" sz="45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1771650" y="104775"/>
                <a:ext cx="76200" cy="76200"/>
              </a:xfrm>
              <a:prstGeom prst="ellipse">
                <a:avLst/>
              </a:prstGeom>
              <a:solidFill>
                <a:srgbClr val="CB46B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7"/>
              <p:cNvSpPr txBox="1"/>
              <p:nvPr/>
            </p:nvSpPr>
            <p:spPr>
              <a:xfrm>
                <a:off x="1668475" y="30480"/>
                <a:ext cx="2826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45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Feb Peak</a:t>
                </a:r>
                <a:endParaRPr b="1" sz="45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6" name="Google Shape;226;p17"/>
              <p:cNvSpPr/>
              <p:nvPr/>
            </p:nvSpPr>
            <p:spPr>
              <a:xfrm>
                <a:off x="2105025" y="723900"/>
                <a:ext cx="76200" cy="76200"/>
              </a:xfrm>
              <a:prstGeom prst="ellipse">
                <a:avLst/>
              </a:prstGeom>
              <a:solidFill>
                <a:srgbClr val="CB46B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7"/>
              <p:cNvSpPr txBox="1"/>
              <p:nvPr/>
            </p:nvSpPr>
            <p:spPr>
              <a:xfrm>
                <a:off x="2001850" y="649605"/>
                <a:ext cx="2826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45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Mar Drop</a:t>
                </a:r>
                <a:endParaRPr b="1" sz="45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8" name="Google Shape;228;p17"/>
              <p:cNvSpPr txBox="1"/>
              <p:nvPr/>
            </p:nvSpPr>
            <p:spPr>
              <a:xfrm>
                <a:off x="8958" y="922020"/>
                <a:ext cx="267900" cy="1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488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Oct '22</a:t>
                </a:r>
                <a:endParaRPr sz="488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9" name="Google Shape;229;p17"/>
              <p:cNvSpPr txBox="1"/>
              <p:nvPr/>
            </p:nvSpPr>
            <p:spPr>
              <a:xfrm>
                <a:off x="1009088" y="922020"/>
                <a:ext cx="267900" cy="1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488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Aug '23</a:t>
                </a:r>
                <a:endParaRPr sz="488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0" name="Google Shape;230;p17"/>
              <p:cNvSpPr txBox="1"/>
              <p:nvPr/>
            </p:nvSpPr>
            <p:spPr>
              <a:xfrm>
                <a:off x="1675829" y="922020"/>
                <a:ext cx="267900" cy="1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488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Feb '24</a:t>
                </a:r>
                <a:endParaRPr sz="488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31" name="Google Shape;231;p17"/>
            <p:cNvSpPr txBox="1"/>
            <p:nvPr/>
          </p:nvSpPr>
          <p:spPr>
            <a:xfrm>
              <a:off x="6210300" y="2476500"/>
              <a:ext cx="23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b="1" lang="en-GB" sz="8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RIVEN BY INTERNSHIPS: </a:t>
              </a:r>
              <a:r>
                <a:rPr lang="en-GB" sz="8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Temporal activity spikes coincide with major internship recruitment periods.</a:t>
              </a:r>
              <a:r>
                <a:rPr lang="en-GB" sz="8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  <a:endParaRPr sz="8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2" name="Google Shape;232;p17"/>
          <p:cNvGrpSpPr/>
          <p:nvPr/>
        </p:nvGrpSpPr>
        <p:grpSpPr>
          <a:xfrm>
            <a:off x="476250" y="3571875"/>
            <a:ext cx="8191650" cy="904800"/>
            <a:chOff x="476250" y="3571875"/>
            <a:chExt cx="8191650" cy="904800"/>
          </a:xfrm>
        </p:grpSpPr>
        <p:sp>
          <p:nvSpPr>
            <p:cNvPr id="233" name="Google Shape;233;p17"/>
            <p:cNvSpPr/>
            <p:nvPr/>
          </p:nvSpPr>
          <p:spPr>
            <a:xfrm>
              <a:off x="476250" y="3571875"/>
              <a:ext cx="81915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>
              <a:solidFill>
                <a:srgbClr val="E2E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4" name="Google Shape;234;p17"/>
            <p:cNvGrpSpPr/>
            <p:nvPr/>
          </p:nvGrpSpPr>
          <p:grpSpPr>
            <a:xfrm>
              <a:off x="762000" y="3714750"/>
              <a:ext cx="7905900" cy="666900"/>
              <a:chOff x="0" y="0"/>
              <a:chExt cx="7905900" cy="666900"/>
            </a:xfrm>
          </p:grpSpPr>
          <p:sp>
            <p:nvSpPr>
              <p:cNvPr id="235" name="Google Shape;235;p17"/>
              <p:cNvSpPr txBox="1"/>
              <p:nvPr/>
            </p:nvSpPr>
            <p:spPr>
              <a:xfrm>
                <a:off x="0" y="0"/>
                <a:ext cx="2190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50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87.14%</a:t>
                </a:r>
                <a:endParaRPr b="1" sz="15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>
                    <a:solidFill>
                      <a:srgbClr val="1A1A1A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Internship + Course Share</a:t>
                </a:r>
                <a:endParaRPr sz="850">
                  <a:solidFill>
                    <a:srgbClr val="1A1A1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Dominating overall learner engagement and program preference.</a:t>
                </a:r>
                <a:endParaRPr sz="8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236" name="Google Shape;236;p17"/>
              <p:cNvCxnSpPr/>
              <p:nvPr/>
            </p:nvCxnSpPr>
            <p:spPr>
              <a:xfrm>
                <a:off x="2381250" y="47625"/>
                <a:ext cx="0" cy="4764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7" name="Google Shape;237;p17"/>
              <p:cNvSpPr txBox="1"/>
              <p:nvPr/>
            </p:nvSpPr>
            <p:spPr>
              <a:xfrm>
                <a:off x="2571750" y="0"/>
                <a:ext cx="2190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50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88.48%</a:t>
                </a:r>
                <a:endParaRPr b="1" sz="15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>
                    <a:solidFill>
                      <a:srgbClr val="1A1A1A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Top 3 Countries</a:t>
                </a:r>
                <a:endParaRPr sz="850">
                  <a:solidFill>
                    <a:srgbClr val="1A1A1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Primary concentration across United States, India, and Nigeria.</a:t>
                </a:r>
                <a:endParaRPr sz="8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238" name="Google Shape;238;p17"/>
              <p:cNvCxnSpPr/>
              <p:nvPr/>
            </p:nvCxnSpPr>
            <p:spPr>
              <a:xfrm>
                <a:off x="4953000" y="47625"/>
                <a:ext cx="0" cy="4764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39" name="Google Shape;239;p17"/>
              <p:cNvSpPr txBox="1"/>
              <p:nvPr/>
            </p:nvSpPr>
            <p:spPr>
              <a:xfrm>
                <a:off x="5143500" y="0"/>
                <a:ext cx="27624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50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Aug 2023 → Jan–Feb 2024</a:t>
                </a:r>
                <a:endParaRPr b="1" sz="15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50">
                    <a:solidFill>
                      <a:srgbClr val="1A1A1A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Major Participation Peaks</a:t>
                </a:r>
                <a:endParaRPr sz="850">
                  <a:solidFill>
                    <a:srgbClr val="1A1A1A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Accelerated growth intervals tied directly to key internship recruitment windows.</a:t>
                </a:r>
                <a:endParaRPr sz="8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18"/>
          <p:cNvGrpSpPr/>
          <p:nvPr/>
        </p:nvGrpSpPr>
        <p:grpSpPr>
          <a:xfrm>
            <a:off x="476250" y="228600"/>
            <a:ext cx="8191500" cy="529486"/>
            <a:chOff x="476250" y="228600"/>
            <a:chExt cx="8191500" cy="529486"/>
          </a:xfrm>
        </p:grpSpPr>
        <p:sp>
          <p:nvSpPr>
            <p:cNvPr id="246" name="Google Shape;246;p18"/>
            <p:cNvSpPr txBox="1"/>
            <p:nvPr/>
          </p:nvSpPr>
          <p:spPr>
            <a:xfrm>
              <a:off x="476250" y="228600"/>
              <a:ext cx="819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Exploratory Data Analysis</a:t>
              </a:r>
              <a:endParaRPr b="1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8"/>
            <p:cNvSpPr txBox="1"/>
            <p:nvPr/>
          </p:nvSpPr>
          <p:spPr>
            <a:xfrm>
              <a:off x="476250" y="567586"/>
              <a:ext cx="819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Learner participation is concentrated in internships, varies by application status, and shows clear temporal patterns.</a:t>
              </a:r>
              <a:endParaRPr b="0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8" name="Google Shape;248;p18"/>
          <p:cNvGrpSpPr/>
          <p:nvPr/>
        </p:nvGrpSpPr>
        <p:grpSpPr>
          <a:xfrm>
            <a:off x="476250" y="861817"/>
            <a:ext cx="2600400" cy="2619300"/>
            <a:chOff x="0" y="0"/>
            <a:chExt cx="2600400" cy="2619300"/>
          </a:xfrm>
        </p:grpSpPr>
        <p:sp>
          <p:nvSpPr>
            <p:cNvPr id="249" name="Google Shape;249;p18"/>
            <p:cNvSpPr/>
            <p:nvPr/>
          </p:nvSpPr>
          <p:spPr>
            <a:xfrm>
              <a:off x="0" y="0"/>
              <a:ext cx="2600400" cy="2619300"/>
            </a:xfrm>
            <a:prstGeom prst="roundRect">
              <a:avLst>
                <a:gd fmla="val 29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8"/>
            <p:cNvSpPr/>
            <p:nvPr/>
          </p:nvSpPr>
          <p:spPr>
            <a:xfrm>
              <a:off x="0" y="0"/>
              <a:ext cx="26004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8"/>
            <p:cNvSpPr txBox="1"/>
            <p:nvPr/>
          </p:nvSpPr>
          <p:spPr>
            <a:xfrm>
              <a:off x="142875" y="142875"/>
              <a:ext cx="23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1. Opportunity Distribution</a:t>
              </a:r>
              <a:endParaRPr b="1" sz="95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52" name="Google Shape;252;p18"/>
            <p:cNvGrpSpPr/>
            <p:nvPr/>
          </p:nvGrpSpPr>
          <p:grpSpPr>
            <a:xfrm>
              <a:off x="142875" y="428625"/>
              <a:ext cx="2381175" cy="904800"/>
              <a:chOff x="0" y="0"/>
              <a:chExt cx="2381175" cy="904800"/>
            </a:xfrm>
          </p:grpSpPr>
          <p:grpSp>
            <p:nvGrpSpPr>
              <p:cNvPr id="253" name="Google Shape;253;p18"/>
              <p:cNvGrpSpPr/>
              <p:nvPr/>
            </p:nvGrpSpPr>
            <p:grpSpPr>
              <a:xfrm>
                <a:off x="0" y="0"/>
                <a:ext cx="2381175" cy="142800"/>
                <a:chOff x="0" y="0"/>
                <a:chExt cx="2381175" cy="142800"/>
              </a:xfrm>
            </p:grpSpPr>
            <p:sp>
              <p:nvSpPr>
                <p:cNvPr id="254" name="Google Shape;254;p18"/>
                <p:cNvSpPr txBox="1"/>
                <p:nvPr/>
              </p:nvSpPr>
              <p:spPr>
                <a:xfrm>
                  <a:off x="0" y="0"/>
                  <a:ext cx="6669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581">
                      <a:solidFill>
                        <a:srgbClr val="47556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Internship</a:t>
                  </a:r>
                  <a:endParaRPr b="0" sz="581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255" name="Google Shape;255;p18"/>
                <p:cNvSpPr/>
                <p:nvPr/>
              </p:nvSpPr>
              <p:spPr>
                <a:xfrm>
                  <a:off x="714375" y="19050"/>
                  <a:ext cx="1086000" cy="954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CB46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" name="Google Shape;256;p18"/>
                <p:cNvSpPr txBox="1"/>
                <p:nvPr/>
              </p:nvSpPr>
              <p:spPr>
                <a:xfrm>
                  <a:off x="1857375" y="0"/>
                  <a:ext cx="5238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81">
                      <a:solidFill>
                        <a:srgbClr val="CB46B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5.4k | 63.3%</a:t>
                  </a:r>
                  <a:endParaRPr b="1" sz="581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257" name="Google Shape;257;p18"/>
              <p:cNvGrpSpPr/>
              <p:nvPr/>
            </p:nvGrpSpPr>
            <p:grpSpPr>
              <a:xfrm>
                <a:off x="0" y="190500"/>
                <a:ext cx="2381175" cy="142800"/>
                <a:chOff x="0" y="0"/>
                <a:chExt cx="2381175" cy="142800"/>
              </a:xfrm>
            </p:grpSpPr>
            <p:sp>
              <p:nvSpPr>
                <p:cNvPr id="258" name="Google Shape;258;p18"/>
                <p:cNvSpPr txBox="1"/>
                <p:nvPr/>
              </p:nvSpPr>
              <p:spPr>
                <a:xfrm>
                  <a:off x="0" y="0"/>
                  <a:ext cx="6669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581">
                      <a:solidFill>
                        <a:srgbClr val="47556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Course</a:t>
                  </a:r>
                  <a:endParaRPr b="0" sz="581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259" name="Google Shape;259;p18"/>
                <p:cNvSpPr/>
                <p:nvPr/>
              </p:nvSpPr>
              <p:spPr>
                <a:xfrm>
                  <a:off x="714375" y="19050"/>
                  <a:ext cx="409500" cy="954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CB46B1">
                    <a:alpha val="6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0" name="Google Shape;260;p18"/>
                <p:cNvSpPr txBox="1"/>
                <p:nvPr/>
              </p:nvSpPr>
              <p:spPr>
                <a:xfrm>
                  <a:off x="1857375" y="0"/>
                  <a:ext cx="5238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81">
                      <a:solidFill>
                        <a:srgbClr val="CB46B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2.0k | 23.8%</a:t>
                  </a:r>
                  <a:endParaRPr b="1" sz="581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261" name="Google Shape;261;p18"/>
              <p:cNvGrpSpPr/>
              <p:nvPr/>
            </p:nvGrpSpPr>
            <p:grpSpPr>
              <a:xfrm>
                <a:off x="0" y="381000"/>
                <a:ext cx="2381175" cy="142800"/>
                <a:chOff x="0" y="0"/>
                <a:chExt cx="2381175" cy="142800"/>
              </a:xfrm>
            </p:grpSpPr>
            <p:sp>
              <p:nvSpPr>
                <p:cNvPr id="262" name="Google Shape;262;p18"/>
                <p:cNvSpPr txBox="1"/>
                <p:nvPr/>
              </p:nvSpPr>
              <p:spPr>
                <a:xfrm>
                  <a:off x="0" y="0"/>
                  <a:ext cx="6669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581">
                      <a:solidFill>
                        <a:srgbClr val="47556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Event</a:t>
                  </a:r>
                  <a:endParaRPr b="0" sz="581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263" name="Google Shape;263;p18"/>
                <p:cNvSpPr/>
                <p:nvPr/>
              </p:nvSpPr>
              <p:spPr>
                <a:xfrm>
                  <a:off x="714375" y="19050"/>
                  <a:ext cx="104700" cy="954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CBD5E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18"/>
                <p:cNvSpPr txBox="1"/>
                <p:nvPr/>
              </p:nvSpPr>
              <p:spPr>
                <a:xfrm>
                  <a:off x="1857375" y="0"/>
                  <a:ext cx="5238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81">
                      <a:solidFill>
                        <a:srgbClr val="1E293B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545 | 6.4%</a:t>
                  </a:r>
                  <a:endParaRPr b="1" sz="581">
                    <a:solidFill>
                      <a:srgbClr val="1E293B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265" name="Google Shape;265;p18"/>
              <p:cNvGrpSpPr/>
              <p:nvPr/>
            </p:nvGrpSpPr>
            <p:grpSpPr>
              <a:xfrm>
                <a:off x="0" y="571500"/>
                <a:ext cx="2381175" cy="142800"/>
                <a:chOff x="0" y="0"/>
                <a:chExt cx="2381175" cy="142800"/>
              </a:xfrm>
            </p:grpSpPr>
            <p:sp>
              <p:nvSpPr>
                <p:cNvPr id="266" name="Google Shape;266;p18"/>
                <p:cNvSpPr txBox="1"/>
                <p:nvPr/>
              </p:nvSpPr>
              <p:spPr>
                <a:xfrm>
                  <a:off x="0" y="0"/>
                  <a:ext cx="6669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581">
                      <a:solidFill>
                        <a:srgbClr val="47556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Competition</a:t>
                  </a:r>
                  <a:endParaRPr b="0" sz="581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267" name="Google Shape;267;p18"/>
                <p:cNvSpPr/>
                <p:nvPr/>
              </p:nvSpPr>
              <p:spPr>
                <a:xfrm>
                  <a:off x="714375" y="19050"/>
                  <a:ext cx="85800" cy="95400"/>
                </a:xfrm>
                <a:prstGeom prst="roundRect">
                  <a:avLst>
                    <a:gd fmla="val 22222" name="adj"/>
                  </a:avLst>
                </a:prstGeom>
                <a:solidFill>
                  <a:srgbClr val="CBD5E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" name="Google Shape;268;p18"/>
                <p:cNvSpPr txBox="1"/>
                <p:nvPr/>
              </p:nvSpPr>
              <p:spPr>
                <a:xfrm>
                  <a:off x="1857375" y="0"/>
                  <a:ext cx="5238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81">
                      <a:solidFill>
                        <a:srgbClr val="1E293B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425 | 5.0%</a:t>
                  </a:r>
                  <a:endParaRPr b="1" sz="581">
                    <a:solidFill>
                      <a:srgbClr val="1E293B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269" name="Google Shape;269;p18"/>
              <p:cNvGrpSpPr/>
              <p:nvPr/>
            </p:nvGrpSpPr>
            <p:grpSpPr>
              <a:xfrm>
                <a:off x="0" y="762000"/>
                <a:ext cx="2381175" cy="142800"/>
                <a:chOff x="0" y="0"/>
                <a:chExt cx="2381175" cy="142800"/>
              </a:xfrm>
            </p:grpSpPr>
            <p:sp>
              <p:nvSpPr>
                <p:cNvPr id="270" name="Google Shape;270;p18"/>
                <p:cNvSpPr txBox="1"/>
                <p:nvPr/>
              </p:nvSpPr>
              <p:spPr>
                <a:xfrm>
                  <a:off x="0" y="0"/>
                  <a:ext cx="6669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581">
                      <a:solidFill>
                        <a:srgbClr val="47556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Engagement</a:t>
                  </a:r>
                  <a:endParaRPr b="0" sz="581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271" name="Google Shape;271;p18"/>
                <p:cNvSpPr/>
                <p:nvPr/>
              </p:nvSpPr>
              <p:spPr>
                <a:xfrm>
                  <a:off x="714375" y="19050"/>
                  <a:ext cx="28500" cy="954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CBD5E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18"/>
                <p:cNvSpPr txBox="1"/>
                <p:nvPr/>
              </p:nvSpPr>
              <p:spPr>
                <a:xfrm>
                  <a:off x="1857375" y="0"/>
                  <a:ext cx="5238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81">
                      <a:solidFill>
                        <a:srgbClr val="1E293B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130 | 1.5%</a:t>
                  </a:r>
                  <a:endParaRPr b="1" sz="581">
                    <a:solidFill>
                      <a:srgbClr val="1E293B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  <p:sp>
          <p:nvSpPr>
            <p:cNvPr id="273" name="Google Shape;273;p18"/>
            <p:cNvSpPr/>
            <p:nvPr/>
          </p:nvSpPr>
          <p:spPr>
            <a:xfrm>
              <a:off x="142875" y="1524000"/>
              <a:ext cx="2314500" cy="362100"/>
            </a:xfrm>
            <a:prstGeom prst="roundRect">
              <a:avLst>
                <a:gd fmla="val 15789" name="adj"/>
              </a:avLst>
            </a:prstGeom>
            <a:solidFill>
              <a:srgbClr val="FDF4FD"/>
            </a:solidFill>
            <a:ln cap="flat" cmpd="sng" w="9525">
              <a:solidFill>
                <a:srgbClr val="F5D0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8"/>
            <p:cNvSpPr txBox="1"/>
            <p:nvPr/>
          </p:nvSpPr>
          <p:spPr>
            <a:xfrm>
              <a:off x="238125" y="1581150"/>
              <a:ext cx="21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87.14% </a:t>
              </a:r>
              <a:r>
                <a:rPr b="0" lang="en-GB" sz="7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of participation comes from Internships and Courses</a:t>
              </a:r>
              <a:endParaRPr b="1" sz="700">
                <a:solidFill>
                  <a:srgbClr val="CB46B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5" name="Google Shape;275;p18"/>
            <p:cNvSpPr txBox="1"/>
            <p:nvPr/>
          </p:nvSpPr>
          <p:spPr>
            <a:xfrm>
              <a:off x="142875" y="2000250"/>
              <a:ext cx="23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Dominant Categories:</a:t>
              </a:r>
              <a:r>
                <a:rPr lang="en-GB" sz="600">
                  <a:solidFill>
                    <a:srgbClr val="64748B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 Internships and Courses represent the vast majority of learner interest, leaving community engagement at marginal levels.</a:t>
              </a:r>
              <a:endParaRPr sz="600">
                <a:solidFill>
                  <a:srgbClr val="64748B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</p:grpSp>
      <p:grpSp>
        <p:nvGrpSpPr>
          <p:cNvPr id="276" name="Google Shape;276;p18"/>
          <p:cNvGrpSpPr/>
          <p:nvPr/>
        </p:nvGrpSpPr>
        <p:grpSpPr>
          <a:xfrm>
            <a:off x="3267075" y="861817"/>
            <a:ext cx="2610000" cy="2619300"/>
            <a:chOff x="0" y="0"/>
            <a:chExt cx="2610000" cy="2619300"/>
          </a:xfrm>
        </p:grpSpPr>
        <p:sp>
          <p:nvSpPr>
            <p:cNvPr id="277" name="Google Shape;277;p18"/>
            <p:cNvSpPr/>
            <p:nvPr/>
          </p:nvSpPr>
          <p:spPr>
            <a:xfrm>
              <a:off x="0" y="0"/>
              <a:ext cx="2610000" cy="2619300"/>
            </a:xfrm>
            <a:prstGeom prst="roundRect">
              <a:avLst>
                <a:gd fmla="val 291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0" y="0"/>
              <a:ext cx="26100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8"/>
            <p:cNvSpPr txBox="1"/>
            <p:nvPr/>
          </p:nvSpPr>
          <p:spPr>
            <a:xfrm>
              <a:off x="142875" y="142875"/>
              <a:ext cx="2324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2. Participation Status</a:t>
              </a:r>
              <a:endParaRPr b="1" sz="95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80" name="Google Shape;280;p18"/>
            <p:cNvGrpSpPr/>
            <p:nvPr/>
          </p:nvGrpSpPr>
          <p:grpSpPr>
            <a:xfrm>
              <a:off x="142875" y="428625"/>
              <a:ext cx="2324175" cy="1485900"/>
              <a:chOff x="0" y="0"/>
              <a:chExt cx="2324175" cy="1485900"/>
            </a:xfrm>
          </p:grpSpPr>
          <p:grpSp>
            <p:nvGrpSpPr>
              <p:cNvPr id="281" name="Google Shape;281;p18"/>
              <p:cNvGrpSpPr/>
              <p:nvPr/>
            </p:nvGrpSpPr>
            <p:grpSpPr>
              <a:xfrm>
                <a:off x="0" y="0"/>
                <a:ext cx="2324175" cy="266700"/>
                <a:chOff x="0" y="0"/>
                <a:chExt cx="2324175" cy="266700"/>
              </a:xfrm>
            </p:grpSpPr>
            <p:sp>
              <p:nvSpPr>
                <p:cNvPr id="282" name="Google Shape;282;p18"/>
                <p:cNvSpPr txBox="1"/>
                <p:nvPr/>
              </p:nvSpPr>
              <p:spPr>
                <a:xfrm>
                  <a:off x="0" y="0"/>
                  <a:ext cx="7143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581">
                      <a:solidFill>
                        <a:srgbClr val="47556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Internship</a:t>
                  </a:r>
                  <a:endParaRPr b="0" sz="581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283" name="Google Shape;283;p18"/>
                <p:cNvSpPr/>
                <p:nvPr/>
              </p:nvSpPr>
              <p:spPr>
                <a:xfrm>
                  <a:off x="762000" y="19050"/>
                  <a:ext cx="10002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46A3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18"/>
                <p:cNvSpPr/>
                <p:nvPr/>
              </p:nvSpPr>
              <p:spPr>
                <a:xfrm>
                  <a:off x="1781175" y="19050"/>
                  <a:ext cx="3240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CB46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" name="Google Shape;285;p18"/>
                <p:cNvSpPr/>
                <p:nvPr/>
              </p:nvSpPr>
              <p:spPr>
                <a:xfrm>
                  <a:off x="2124075" y="19050"/>
                  <a:ext cx="2001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p18"/>
                <p:cNvSpPr txBox="1"/>
                <p:nvPr/>
              </p:nvSpPr>
              <p:spPr>
                <a:xfrm>
                  <a:off x="762000" y="152400"/>
                  <a:ext cx="1562100" cy="1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50">
                      <a:solidFill>
                        <a:srgbClr val="F46A3A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65.8% Rej</a:t>
                  </a:r>
                  <a:r>
                    <a:rPr b="1" lang="en-GB" sz="550">
                      <a:solidFill>
                        <a:srgbClr val="64748B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 | </a:t>
                  </a:r>
                  <a:r>
                    <a:rPr b="1" lang="en-GB" sz="550">
                      <a:solidFill>
                        <a:srgbClr val="CB46B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21.5% Allocated</a:t>
                  </a:r>
                  <a:endParaRPr b="1" sz="55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287" name="Google Shape;287;p18"/>
              <p:cNvGrpSpPr/>
              <p:nvPr/>
            </p:nvGrpSpPr>
            <p:grpSpPr>
              <a:xfrm>
                <a:off x="0" y="304800"/>
                <a:ext cx="2324100" cy="266700"/>
                <a:chOff x="0" y="0"/>
                <a:chExt cx="2324100" cy="266700"/>
              </a:xfrm>
            </p:grpSpPr>
            <p:sp>
              <p:nvSpPr>
                <p:cNvPr id="288" name="Google Shape;288;p18"/>
                <p:cNvSpPr txBox="1"/>
                <p:nvPr/>
              </p:nvSpPr>
              <p:spPr>
                <a:xfrm>
                  <a:off x="0" y="0"/>
                  <a:ext cx="7143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581">
                      <a:solidFill>
                        <a:srgbClr val="47556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Course</a:t>
                  </a:r>
                  <a:endParaRPr b="0" sz="581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289" name="Google Shape;289;p18"/>
                <p:cNvSpPr/>
                <p:nvPr/>
              </p:nvSpPr>
              <p:spPr>
                <a:xfrm>
                  <a:off x="762000" y="19050"/>
                  <a:ext cx="8286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47556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18"/>
                <p:cNvSpPr/>
                <p:nvPr/>
              </p:nvSpPr>
              <p:spPr>
                <a:xfrm>
                  <a:off x="1609725" y="19050"/>
                  <a:ext cx="7143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" name="Google Shape;291;p18"/>
                <p:cNvSpPr txBox="1"/>
                <p:nvPr/>
              </p:nvSpPr>
              <p:spPr>
                <a:xfrm>
                  <a:off x="762000" y="152400"/>
                  <a:ext cx="1562100" cy="1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5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54.7% Team Allocated</a:t>
                  </a:r>
                  <a:endParaRPr b="1" sz="55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292" name="Google Shape;292;p18"/>
              <p:cNvGrpSpPr/>
              <p:nvPr/>
            </p:nvGrpSpPr>
            <p:grpSpPr>
              <a:xfrm>
                <a:off x="0" y="609600"/>
                <a:ext cx="2324100" cy="266700"/>
                <a:chOff x="0" y="0"/>
                <a:chExt cx="2324100" cy="266700"/>
              </a:xfrm>
            </p:grpSpPr>
            <p:sp>
              <p:nvSpPr>
                <p:cNvPr id="293" name="Google Shape;293;p18"/>
                <p:cNvSpPr txBox="1"/>
                <p:nvPr/>
              </p:nvSpPr>
              <p:spPr>
                <a:xfrm>
                  <a:off x="0" y="0"/>
                  <a:ext cx="7143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581">
                      <a:solidFill>
                        <a:srgbClr val="47556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Competition</a:t>
                  </a:r>
                  <a:endParaRPr b="0" sz="581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294" name="Google Shape;294;p18"/>
                <p:cNvSpPr/>
                <p:nvPr/>
              </p:nvSpPr>
              <p:spPr>
                <a:xfrm>
                  <a:off x="762000" y="19050"/>
                  <a:ext cx="12858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47556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" name="Google Shape;295;p18"/>
                <p:cNvSpPr/>
                <p:nvPr/>
              </p:nvSpPr>
              <p:spPr>
                <a:xfrm>
                  <a:off x="2066925" y="19050"/>
                  <a:ext cx="2571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" name="Google Shape;296;p18"/>
                <p:cNvSpPr txBox="1"/>
                <p:nvPr/>
              </p:nvSpPr>
              <p:spPr>
                <a:xfrm>
                  <a:off x="762000" y="152400"/>
                  <a:ext cx="1562100" cy="1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5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84.2% Team Allocated</a:t>
                  </a:r>
                  <a:endParaRPr b="1" sz="55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297" name="Google Shape;297;p18"/>
              <p:cNvGrpSpPr/>
              <p:nvPr/>
            </p:nvGrpSpPr>
            <p:grpSpPr>
              <a:xfrm>
                <a:off x="0" y="914400"/>
                <a:ext cx="2324100" cy="266700"/>
                <a:chOff x="0" y="0"/>
                <a:chExt cx="2324100" cy="266700"/>
              </a:xfrm>
            </p:grpSpPr>
            <p:sp>
              <p:nvSpPr>
                <p:cNvPr id="298" name="Google Shape;298;p18"/>
                <p:cNvSpPr txBox="1"/>
                <p:nvPr/>
              </p:nvSpPr>
              <p:spPr>
                <a:xfrm>
                  <a:off x="0" y="0"/>
                  <a:ext cx="7143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581">
                      <a:solidFill>
                        <a:srgbClr val="47556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Event</a:t>
                  </a:r>
                  <a:endParaRPr b="0" sz="581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299" name="Google Shape;299;p18"/>
                <p:cNvSpPr/>
                <p:nvPr/>
              </p:nvSpPr>
              <p:spPr>
                <a:xfrm>
                  <a:off x="762000" y="19050"/>
                  <a:ext cx="14382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47556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" name="Google Shape;300;p18"/>
                <p:cNvSpPr/>
                <p:nvPr/>
              </p:nvSpPr>
              <p:spPr>
                <a:xfrm>
                  <a:off x="2219325" y="19050"/>
                  <a:ext cx="104700" cy="114300"/>
                </a:xfrm>
                <a:prstGeom prst="roundRect">
                  <a:avLst>
                    <a:gd fmla="val 18181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18"/>
                <p:cNvSpPr txBox="1"/>
                <p:nvPr/>
              </p:nvSpPr>
              <p:spPr>
                <a:xfrm>
                  <a:off x="762000" y="152400"/>
                  <a:ext cx="1562100" cy="1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5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94.1% Team Allocated</a:t>
                  </a:r>
                  <a:endParaRPr b="1" sz="55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302" name="Google Shape;302;p18"/>
              <p:cNvGrpSpPr/>
              <p:nvPr/>
            </p:nvGrpSpPr>
            <p:grpSpPr>
              <a:xfrm>
                <a:off x="0" y="1219200"/>
                <a:ext cx="2324100" cy="266700"/>
                <a:chOff x="0" y="0"/>
                <a:chExt cx="2324100" cy="266700"/>
              </a:xfrm>
            </p:grpSpPr>
            <p:sp>
              <p:nvSpPr>
                <p:cNvPr id="303" name="Google Shape;303;p18"/>
                <p:cNvSpPr txBox="1"/>
                <p:nvPr/>
              </p:nvSpPr>
              <p:spPr>
                <a:xfrm>
                  <a:off x="0" y="0"/>
                  <a:ext cx="7143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581">
                      <a:solidFill>
                        <a:srgbClr val="475569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Engagement</a:t>
                  </a:r>
                  <a:endParaRPr b="0" sz="581">
                    <a:solidFill>
                      <a:srgbClr val="475569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304" name="Google Shape;304;p18"/>
                <p:cNvSpPr/>
                <p:nvPr/>
              </p:nvSpPr>
              <p:spPr>
                <a:xfrm>
                  <a:off x="762000" y="19050"/>
                  <a:ext cx="14763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47556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" name="Google Shape;305;p18"/>
                <p:cNvSpPr/>
                <p:nvPr/>
              </p:nvSpPr>
              <p:spPr>
                <a:xfrm>
                  <a:off x="2257425" y="19050"/>
                  <a:ext cx="66600" cy="114300"/>
                </a:xfrm>
                <a:prstGeom prst="roundRect">
                  <a:avLst>
                    <a:gd fmla="val 28571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" name="Google Shape;306;p18"/>
                <p:cNvSpPr txBox="1"/>
                <p:nvPr/>
              </p:nvSpPr>
              <p:spPr>
                <a:xfrm>
                  <a:off x="762000" y="152400"/>
                  <a:ext cx="1562100" cy="1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5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96.9% Team Allocated</a:t>
                  </a:r>
                  <a:endParaRPr b="1" sz="55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  <p:grpSp>
          <p:nvGrpSpPr>
            <p:cNvPr id="307" name="Google Shape;307;p18"/>
            <p:cNvGrpSpPr/>
            <p:nvPr/>
          </p:nvGrpSpPr>
          <p:grpSpPr>
            <a:xfrm>
              <a:off x="142875" y="1962150"/>
              <a:ext cx="2286000" cy="114300"/>
              <a:chOff x="0" y="-38100"/>
              <a:chExt cx="2286000" cy="114300"/>
            </a:xfrm>
          </p:grpSpPr>
          <p:sp>
            <p:nvSpPr>
              <p:cNvPr id="308" name="Google Shape;308;p18"/>
              <p:cNvSpPr/>
              <p:nvPr/>
            </p:nvSpPr>
            <p:spPr>
              <a:xfrm>
                <a:off x="0" y="0"/>
                <a:ext cx="57300" cy="57300"/>
              </a:xfrm>
              <a:prstGeom prst="roundRect">
                <a:avLst>
                  <a:gd fmla="val 16666" name="adj"/>
                </a:avLst>
              </a:prstGeom>
              <a:solidFill>
                <a:srgbClr val="F46A3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8"/>
              <p:cNvSpPr txBox="1"/>
              <p:nvPr/>
            </p:nvSpPr>
            <p:spPr>
              <a:xfrm>
                <a:off x="95250" y="-38100"/>
                <a:ext cx="476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50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Rejected</a:t>
                </a:r>
                <a:endParaRPr b="0" sz="550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sp>
            <p:nvSpPr>
              <p:cNvPr id="310" name="Google Shape;310;p18"/>
              <p:cNvSpPr/>
              <p:nvPr/>
            </p:nvSpPr>
            <p:spPr>
              <a:xfrm>
                <a:off x="619125" y="0"/>
                <a:ext cx="57300" cy="57300"/>
              </a:xfrm>
              <a:prstGeom prst="roundRect">
                <a:avLst>
                  <a:gd fmla="val 16666" name="adj"/>
                </a:avLst>
              </a:prstGeom>
              <a:solidFill>
                <a:srgbClr val="CB46B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8"/>
              <p:cNvSpPr txBox="1"/>
              <p:nvPr/>
            </p:nvSpPr>
            <p:spPr>
              <a:xfrm>
                <a:off x="714375" y="-38100"/>
                <a:ext cx="666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50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Allocated (Intern)</a:t>
                </a:r>
                <a:endParaRPr b="0" sz="550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>
                <a:off x="1428750" y="0"/>
                <a:ext cx="57300" cy="57300"/>
              </a:xfrm>
              <a:prstGeom prst="roundRect">
                <a:avLst>
                  <a:gd fmla="val 16666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8"/>
              <p:cNvSpPr txBox="1"/>
              <p:nvPr/>
            </p:nvSpPr>
            <p:spPr>
              <a:xfrm>
                <a:off x="1524000" y="-38100"/>
                <a:ext cx="7620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50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Allocated (Other)</a:t>
                </a:r>
                <a:endParaRPr b="0" sz="550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sp>
          <p:nvSpPr>
            <p:cNvPr id="314" name="Google Shape;314;p18"/>
            <p:cNvSpPr txBox="1"/>
            <p:nvPr/>
          </p:nvSpPr>
          <p:spPr>
            <a:xfrm>
              <a:off x="142875" y="2152650"/>
              <a:ext cx="2324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6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rPr>
                <a:t>Outcome Contrast:</a:t>
              </a:r>
              <a:r>
                <a:rPr lang="en-GB" sz="600">
                  <a:solidFill>
                    <a:srgbClr val="64748B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 </a:t>
              </a:r>
              <a:r>
                <a:rPr lang="en-GB" sz="600">
                  <a:solidFill>
                    <a:srgbClr val="64748B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Other opportunity categories show substantially higher Team Allocated rates than Internships.</a:t>
              </a:r>
              <a:endParaRPr sz="600">
                <a:solidFill>
                  <a:srgbClr val="64748B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</p:grpSp>
      <p:grpSp>
        <p:nvGrpSpPr>
          <p:cNvPr id="315" name="Google Shape;315;p18"/>
          <p:cNvGrpSpPr/>
          <p:nvPr/>
        </p:nvGrpSpPr>
        <p:grpSpPr>
          <a:xfrm>
            <a:off x="6067425" y="861817"/>
            <a:ext cx="2600400" cy="2619300"/>
            <a:chOff x="0" y="0"/>
            <a:chExt cx="2600400" cy="2619300"/>
          </a:xfrm>
        </p:grpSpPr>
        <p:sp>
          <p:nvSpPr>
            <p:cNvPr id="316" name="Google Shape;316;p18"/>
            <p:cNvSpPr/>
            <p:nvPr/>
          </p:nvSpPr>
          <p:spPr>
            <a:xfrm>
              <a:off x="0" y="0"/>
              <a:ext cx="2600400" cy="2619300"/>
            </a:xfrm>
            <a:prstGeom prst="roundRect">
              <a:avLst>
                <a:gd fmla="val 29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0" y="0"/>
              <a:ext cx="26004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8"/>
            <p:cNvSpPr txBox="1"/>
            <p:nvPr/>
          </p:nvSpPr>
          <p:spPr>
            <a:xfrm>
              <a:off x="142875" y="142875"/>
              <a:ext cx="23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3. Monthly Participation Trend</a:t>
              </a:r>
              <a:endParaRPr b="1" sz="95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19" name="Google Shape;319;p18"/>
            <p:cNvGrpSpPr/>
            <p:nvPr/>
          </p:nvGrpSpPr>
          <p:grpSpPr>
            <a:xfrm>
              <a:off x="142875" y="447675"/>
              <a:ext cx="2381250" cy="1400175"/>
              <a:chOff x="0" y="19050"/>
              <a:chExt cx="2381250" cy="1400175"/>
            </a:xfrm>
          </p:grpSpPr>
          <p:cxnSp>
            <p:nvCxnSpPr>
              <p:cNvPr id="320" name="Google Shape;320;p18"/>
              <p:cNvCxnSpPr/>
              <p:nvPr/>
            </p:nvCxnSpPr>
            <p:spPr>
              <a:xfrm>
                <a:off x="142875" y="1238250"/>
                <a:ext cx="20478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18"/>
              <p:cNvCxnSpPr/>
              <p:nvPr/>
            </p:nvCxnSpPr>
            <p:spPr>
              <a:xfrm>
                <a:off x="142875" y="1238250"/>
                <a:ext cx="0" cy="477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18"/>
              <p:cNvCxnSpPr/>
              <p:nvPr/>
            </p:nvCxnSpPr>
            <p:spPr>
              <a:xfrm>
                <a:off x="809625" y="1238250"/>
                <a:ext cx="0" cy="477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18"/>
              <p:cNvCxnSpPr/>
              <p:nvPr/>
            </p:nvCxnSpPr>
            <p:spPr>
              <a:xfrm>
                <a:off x="1476375" y="1238250"/>
                <a:ext cx="0" cy="477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4" name="Google Shape;324;p18"/>
              <p:cNvCxnSpPr/>
              <p:nvPr/>
            </p:nvCxnSpPr>
            <p:spPr>
              <a:xfrm>
                <a:off x="2190750" y="1238250"/>
                <a:ext cx="0" cy="477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pic>
            <p:nvPicPr>
              <p:cNvPr id="325" name="Google Shape;325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33350" y="157163"/>
                <a:ext cx="2071800" cy="1047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6" name="Google Shape;326;p18"/>
              <p:cNvSpPr/>
              <p:nvPr/>
            </p:nvSpPr>
            <p:spPr>
              <a:xfrm>
                <a:off x="109538" y="1157288"/>
                <a:ext cx="66600" cy="66600"/>
              </a:xfrm>
              <a:prstGeom prst="ellipse">
                <a:avLst/>
              </a:prstGeom>
              <a:solidFill>
                <a:srgbClr val="CB46B1"/>
              </a:solidFill>
              <a:ln cap="flat" cmpd="sng" w="143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8"/>
              <p:cNvSpPr/>
              <p:nvPr/>
            </p:nvSpPr>
            <p:spPr>
              <a:xfrm>
                <a:off x="776288" y="823913"/>
                <a:ext cx="66600" cy="66600"/>
              </a:xfrm>
              <a:prstGeom prst="ellipse">
                <a:avLst/>
              </a:prstGeom>
              <a:solidFill>
                <a:srgbClr val="CB46B1"/>
              </a:solidFill>
              <a:ln cap="flat" cmpd="sng" w="143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8"/>
              <p:cNvSpPr/>
              <p:nvPr/>
            </p:nvSpPr>
            <p:spPr>
              <a:xfrm>
                <a:off x="1443038" y="138113"/>
                <a:ext cx="66600" cy="66600"/>
              </a:xfrm>
              <a:prstGeom prst="ellipse">
                <a:avLst/>
              </a:prstGeom>
              <a:solidFill>
                <a:srgbClr val="CB46B1"/>
              </a:solidFill>
              <a:ln cap="flat" cmpd="sng" w="143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18"/>
              <p:cNvSpPr/>
              <p:nvPr/>
            </p:nvSpPr>
            <p:spPr>
              <a:xfrm>
                <a:off x="1795463" y="138113"/>
                <a:ext cx="66600" cy="66600"/>
              </a:xfrm>
              <a:prstGeom prst="ellipse">
                <a:avLst/>
              </a:prstGeom>
              <a:solidFill>
                <a:srgbClr val="CB46B1"/>
              </a:solidFill>
              <a:ln cap="flat" cmpd="sng" w="143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8"/>
              <p:cNvSpPr/>
              <p:nvPr/>
            </p:nvSpPr>
            <p:spPr>
              <a:xfrm>
                <a:off x="2157413" y="1062038"/>
                <a:ext cx="66600" cy="66600"/>
              </a:xfrm>
              <a:prstGeom prst="ellipse">
                <a:avLst/>
              </a:prstGeom>
              <a:solidFill>
                <a:srgbClr val="CB46B1"/>
              </a:solidFill>
              <a:ln cap="flat" cmpd="sng" w="143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8"/>
              <p:cNvSpPr txBox="1"/>
              <p:nvPr/>
            </p:nvSpPr>
            <p:spPr>
              <a:xfrm>
                <a:off x="476250" y="971550"/>
                <a:ext cx="6669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5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Aug '23: ~700</a:t>
                </a:r>
                <a:endParaRPr b="1" sz="55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2" name="Google Shape;332;p18"/>
              <p:cNvSpPr txBox="1"/>
              <p:nvPr/>
            </p:nvSpPr>
            <p:spPr>
              <a:xfrm>
                <a:off x="1143000" y="19050"/>
                <a:ext cx="6669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5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Jan-Feb: &gt;2,000</a:t>
                </a:r>
                <a:endParaRPr b="1" sz="55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3" name="Google Shape;333;p18"/>
              <p:cNvSpPr txBox="1"/>
              <p:nvPr/>
            </p:nvSpPr>
            <p:spPr>
              <a:xfrm>
                <a:off x="1714500" y="1143000"/>
                <a:ext cx="6000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550">
                    <a:solidFill>
                      <a:srgbClr val="F46A3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Mar '24 Drop</a:t>
                </a:r>
                <a:endParaRPr b="1" sz="550">
                  <a:solidFill>
                    <a:srgbClr val="F46A3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4" name="Google Shape;334;p18"/>
              <p:cNvSpPr txBox="1"/>
              <p:nvPr/>
            </p:nvSpPr>
            <p:spPr>
              <a:xfrm>
                <a:off x="0" y="1304925"/>
                <a:ext cx="3810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50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Oct '22</a:t>
                </a:r>
                <a:endParaRPr b="0" sz="550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sp>
            <p:nvSpPr>
              <p:cNvPr id="335" name="Google Shape;335;p18"/>
              <p:cNvSpPr txBox="1"/>
              <p:nvPr/>
            </p:nvSpPr>
            <p:spPr>
              <a:xfrm>
                <a:off x="619125" y="1304925"/>
                <a:ext cx="3810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50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Aug '23</a:t>
                </a:r>
                <a:endParaRPr b="0" sz="550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sp>
            <p:nvSpPr>
              <p:cNvPr id="336" name="Google Shape;336;p18"/>
              <p:cNvSpPr txBox="1"/>
              <p:nvPr/>
            </p:nvSpPr>
            <p:spPr>
              <a:xfrm>
                <a:off x="1285875" y="1304925"/>
                <a:ext cx="3810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50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Feb '24</a:t>
                </a:r>
                <a:endParaRPr b="0" sz="550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sp>
            <p:nvSpPr>
              <p:cNvPr id="337" name="Google Shape;337;p18"/>
              <p:cNvSpPr txBox="1"/>
              <p:nvPr/>
            </p:nvSpPr>
            <p:spPr>
              <a:xfrm>
                <a:off x="2000250" y="1304925"/>
                <a:ext cx="3810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550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Mar '24</a:t>
                </a:r>
                <a:endParaRPr b="0" sz="550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sp>
          <p:nvSpPr>
            <p:cNvPr id="338" name="Google Shape;338;p18"/>
            <p:cNvSpPr/>
            <p:nvPr/>
          </p:nvSpPr>
          <p:spPr>
            <a:xfrm>
              <a:off x="142875" y="1905000"/>
              <a:ext cx="2314500" cy="571500"/>
            </a:xfrm>
            <a:prstGeom prst="roundRect">
              <a:avLst>
                <a:gd fmla="val 10000" name="adj"/>
              </a:avLst>
            </a:prstGeom>
            <a:solidFill>
              <a:srgbClr val="FDF4FD"/>
            </a:solidFill>
            <a:ln cap="flat" cmpd="sng" w="9525">
              <a:solidFill>
                <a:srgbClr val="F5D0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8"/>
            <p:cNvSpPr txBox="1"/>
            <p:nvPr/>
          </p:nvSpPr>
          <p:spPr>
            <a:xfrm>
              <a:off x="238125" y="1962150"/>
              <a:ext cx="21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Participation growth</a:t>
              </a:r>
              <a:r>
                <a:rPr lang="en-GB" sz="700">
                  <a:solidFill>
                    <a:srgbClr val="CB46B1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 was primarily driven by structured internship recruitment cycles.</a:t>
              </a:r>
              <a:endParaRPr sz="700">
                <a:solidFill>
                  <a:srgbClr val="CB46B1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  <p:grpSp>
        <p:nvGrpSpPr>
          <p:cNvPr id="340" name="Google Shape;340;p18"/>
          <p:cNvGrpSpPr/>
          <p:nvPr/>
        </p:nvGrpSpPr>
        <p:grpSpPr>
          <a:xfrm>
            <a:off x="476250" y="3754546"/>
            <a:ext cx="8191650" cy="904800"/>
            <a:chOff x="0" y="0"/>
            <a:chExt cx="8191650" cy="904800"/>
          </a:xfrm>
        </p:grpSpPr>
        <p:sp>
          <p:nvSpPr>
            <p:cNvPr id="341" name="Google Shape;341;p18"/>
            <p:cNvSpPr/>
            <p:nvPr/>
          </p:nvSpPr>
          <p:spPr>
            <a:xfrm>
              <a:off x="0" y="0"/>
              <a:ext cx="81915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8"/>
            <p:cNvSpPr/>
            <p:nvPr/>
          </p:nvSpPr>
          <p:spPr>
            <a:xfrm>
              <a:off x="0" y="0"/>
              <a:ext cx="57300" cy="9048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3" name="Google Shape;343;p18"/>
            <p:cNvGrpSpPr/>
            <p:nvPr/>
          </p:nvGrpSpPr>
          <p:grpSpPr>
            <a:xfrm>
              <a:off x="190500" y="142875"/>
              <a:ext cx="8001150" cy="619200"/>
              <a:chOff x="0" y="0"/>
              <a:chExt cx="8001150" cy="619200"/>
            </a:xfrm>
          </p:grpSpPr>
          <p:sp>
            <p:nvSpPr>
              <p:cNvPr id="344" name="Google Shape;344;p18"/>
              <p:cNvSpPr txBox="1"/>
              <p:nvPr/>
            </p:nvSpPr>
            <p:spPr>
              <a:xfrm>
                <a:off x="0" y="0"/>
                <a:ext cx="23814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OPPORTUNITY MIX</a:t>
                </a:r>
                <a:endParaRPr b="1" sz="85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800">
                    <a:solidFill>
                      <a:srgbClr val="1E293B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Internships dominate</a:t>
                </a:r>
                <a:r>
                  <a:rPr lang="en-GB" sz="8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general engagement, reflecting career-centric learner priorities over courses or community events.</a:t>
                </a:r>
                <a:endParaRPr b="1" sz="85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345" name="Google Shape;345;p18"/>
              <p:cNvCxnSpPr/>
              <p:nvPr/>
            </p:nvCxnSpPr>
            <p:spPr>
              <a:xfrm>
                <a:off x="2524125" y="47625"/>
                <a:ext cx="0" cy="5238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46" name="Google Shape;346;p18"/>
              <p:cNvSpPr txBox="1"/>
              <p:nvPr/>
            </p:nvSpPr>
            <p:spPr>
              <a:xfrm>
                <a:off x="2714625" y="0"/>
                <a:ext cx="25719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APPLICATION OUTCOMES</a:t>
                </a:r>
                <a:endParaRPr b="1" sz="85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800">
                    <a:solidFill>
                      <a:srgbClr val="1E293B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High Internship selectivity</a:t>
                </a:r>
                <a:r>
                  <a:rPr lang="en-GB" sz="8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leads to a 65.8% rejection rate, presenting a stark contrast to other highly accessible formats.</a:t>
                </a:r>
                <a:endParaRPr b="1" sz="85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347" name="Google Shape;347;p18"/>
              <p:cNvCxnSpPr/>
              <p:nvPr/>
            </p:nvCxnSpPr>
            <p:spPr>
              <a:xfrm>
                <a:off x="5429250" y="47625"/>
                <a:ext cx="0" cy="5238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48" name="Google Shape;348;p18"/>
              <p:cNvSpPr txBox="1"/>
              <p:nvPr/>
            </p:nvSpPr>
            <p:spPr>
              <a:xfrm>
                <a:off x="5619750" y="0"/>
                <a:ext cx="23814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TIME PATTERN</a:t>
                </a:r>
                <a:endParaRPr b="1" sz="85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800">
                    <a:solidFill>
                      <a:srgbClr val="1E293B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Spikes align with semesters,</a:t>
                </a:r>
                <a:r>
                  <a:rPr lang="en-GB" sz="80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peaking dramatically in Jan-Feb before dropping, indicating tight ties to academic cycles.</a:t>
                </a:r>
                <a:endParaRPr b="1" sz="85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19" title="Executive_deck_upda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055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571500" y="238125"/>
            <a:ext cx="800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A1A1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Key Drivers of Learner Participation</a:t>
            </a:r>
            <a:endParaRPr sz="2400">
              <a:solidFill>
                <a:srgbClr val="1A1A1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571500" y="606701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Feature importance analysis identified the variables with the greatest influence on learner participation.</a:t>
            </a:r>
            <a:endParaRPr sz="11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61" name="Google Shape;361;p20"/>
          <p:cNvGrpSpPr/>
          <p:nvPr/>
        </p:nvGrpSpPr>
        <p:grpSpPr>
          <a:xfrm>
            <a:off x="571500" y="904875"/>
            <a:ext cx="4572000" cy="3000300"/>
            <a:chOff x="571500" y="904875"/>
            <a:chExt cx="4572000" cy="3000300"/>
          </a:xfrm>
        </p:grpSpPr>
        <p:sp>
          <p:nvSpPr>
            <p:cNvPr id="362" name="Google Shape;362;p20"/>
            <p:cNvSpPr/>
            <p:nvPr/>
          </p:nvSpPr>
          <p:spPr>
            <a:xfrm>
              <a:off x="571500" y="904875"/>
              <a:ext cx="4572000" cy="3000300"/>
            </a:xfrm>
            <a:prstGeom prst="roundRect">
              <a:avLst>
                <a:gd fmla="val 253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571500" y="904875"/>
              <a:ext cx="4572000" cy="47700"/>
            </a:xfrm>
            <a:prstGeom prst="roundRect">
              <a:avLst>
                <a:gd fmla="val 4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0"/>
            <p:cNvSpPr txBox="1"/>
            <p:nvPr/>
          </p:nvSpPr>
          <p:spPr>
            <a:xfrm>
              <a:off x="714375" y="1047750"/>
              <a:ext cx="428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Feature Importance Analysis (Random Forest)</a:t>
              </a:r>
              <a:endParaRPr b="1" sz="1000">
                <a:solidFill>
                  <a:srgbClr val="CB46B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65" name="Google Shape;365;p20"/>
            <p:cNvGrpSpPr/>
            <p:nvPr/>
          </p:nvGrpSpPr>
          <p:grpSpPr>
            <a:xfrm>
              <a:off x="714375" y="1314450"/>
              <a:ext cx="4048275" cy="2371650"/>
              <a:chOff x="714375" y="1314450"/>
              <a:chExt cx="4048275" cy="2371650"/>
            </a:xfrm>
          </p:grpSpPr>
          <p:grpSp>
            <p:nvGrpSpPr>
              <p:cNvPr id="366" name="Google Shape;366;p20"/>
              <p:cNvGrpSpPr/>
              <p:nvPr/>
            </p:nvGrpSpPr>
            <p:grpSpPr>
              <a:xfrm>
                <a:off x="714375" y="1314450"/>
                <a:ext cx="4048275" cy="142800"/>
                <a:chOff x="714375" y="1314450"/>
                <a:chExt cx="4048275" cy="142800"/>
              </a:xfrm>
            </p:grpSpPr>
            <p:sp>
              <p:nvSpPr>
                <p:cNvPr id="367" name="Google Shape;367;p20"/>
                <p:cNvSpPr txBox="1"/>
                <p:nvPr/>
              </p:nvSpPr>
              <p:spPr>
                <a:xfrm>
                  <a:off x="714375" y="1314450"/>
                  <a:ext cx="1238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00">
                      <a:solidFill>
                        <a:srgbClr val="1E2937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Opportunity Category</a:t>
                  </a:r>
                  <a:endParaRPr b="0" sz="800">
                    <a:solidFill>
                      <a:srgbClr val="1E293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368" name="Google Shape;368;p20"/>
                <p:cNvSpPr/>
                <p:nvPr/>
              </p:nvSpPr>
              <p:spPr>
                <a:xfrm>
                  <a:off x="2047875" y="1314450"/>
                  <a:ext cx="2190900" cy="1428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CB46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9" name="Google Shape;369;p20"/>
                <p:cNvSpPr txBox="1"/>
                <p:nvPr/>
              </p:nvSpPr>
              <p:spPr>
                <a:xfrm>
                  <a:off x="4286250" y="1314450"/>
                  <a:ext cx="476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800">
                      <a:solidFill>
                        <a:srgbClr val="CB46B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0.433</a:t>
                  </a:r>
                  <a:endParaRPr b="1" sz="80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370" name="Google Shape;370;p20"/>
              <p:cNvGrpSpPr/>
              <p:nvPr/>
            </p:nvGrpSpPr>
            <p:grpSpPr>
              <a:xfrm>
                <a:off x="714375" y="1562100"/>
                <a:ext cx="3071963" cy="142800"/>
                <a:chOff x="714375" y="1562100"/>
                <a:chExt cx="3071963" cy="142800"/>
              </a:xfrm>
            </p:grpSpPr>
            <p:sp>
              <p:nvSpPr>
                <p:cNvPr id="371" name="Google Shape;371;p20"/>
                <p:cNvSpPr txBox="1"/>
                <p:nvPr/>
              </p:nvSpPr>
              <p:spPr>
                <a:xfrm>
                  <a:off x="714375" y="1562100"/>
                  <a:ext cx="1238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00">
                      <a:solidFill>
                        <a:srgbClr val="1E2937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Opportunity Duration</a:t>
                  </a:r>
                  <a:endParaRPr b="0" sz="800">
                    <a:solidFill>
                      <a:srgbClr val="1E293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372" name="Google Shape;372;p20"/>
                <p:cNvSpPr/>
                <p:nvPr/>
              </p:nvSpPr>
              <p:spPr>
                <a:xfrm>
                  <a:off x="2047875" y="1562100"/>
                  <a:ext cx="1214400" cy="1428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CB46B1">
                    <a:alpha val="7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3" name="Google Shape;373;p20"/>
                <p:cNvSpPr txBox="1"/>
                <p:nvPr/>
              </p:nvSpPr>
              <p:spPr>
                <a:xfrm>
                  <a:off x="3309938" y="1562100"/>
                  <a:ext cx="476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800">
                      <a:solidFill>
                        <a:srgbClr val="CB46B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0.240</a:t>
                  </a:r>
                  <a:endParaRPr b="1" sz="80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374" name="Google Shape;374;p20"/>
              <p:cNvGrpSpPr/>
              <p:nvPr/>
            </p:nvGrpSpPr>
            <p:grpSpPr>
              <a:xfrm>
                <a:off x="714375" y="1809750"/>
                <a:ext cx="2150595" cy="142800"/>
                <a:chOff x="714375" y="1809750"/>
                <a:chExt cx="2150595" cy="142800"/>
              </a:xfrm>
            </p:grpSpPr>
            <p:sp>
              <p:nvSpPr>
                <p:cNvPr id="375" name="Google Shape;375;p20"/>
                <p:cNvSpPr txBox="1"/>
                <p:nvPr/>
              </p:nvSpPr>
              <p:spPr>
                <a:xfrm>
                  <a:off x="714375" y="1809750"/>
                  <a:ext cx="1238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00">
                      <a:solidFill>
                        <a:srgbClr val="1E2937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Signup Month</a:t>
                  </a:r>
                  <a:endParaRPr b="0" sz="800">
                    <a:solidFill>
                      <a:srgbClr val="1E293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376" name="Google Shape;376;p20"/>
                <p:cNvSpPr/>
                <p:nvPr/>
              </p:nvSpPr>
              <p:spPr>
                <a:xfrm>
                  <a:off x="2047875" y="1809750"/>
                  <a:ext cx="293400" cy="1428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94A3B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" name="Google Shape;377;p20"/>
                <p:cNvSpPr txBox="1"/>
                <p:nvPr/>
              </p:nvSpPr>
              <p:spPr>
                <a:xfrm>
                  <a:off x="2388870" y="1809750"/>
                  <a:ext cx="4761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80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0.058</a:t>
                  </a:r>
                  <a:endParaRPr b="1" sz="800">
                    <a:solidFill>
                      <a:srgbClr val="47556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378" name="Google Shape;378;p20"/>
              <p:cNvGrpSpPr/>
              <p:nvPr/>
            </p:nvGrpSpPr>
            <p:grpSpPr>
              <a:xfrm>
                <a:off x="714375" y="2057400"/>
                <a:ext cx="2140418" cy="142800"/>
                <a:chOff x="714375" y="2057400"/>
                <a:chExt cx="2140418" cy="142800"/>
              </a:xfrm>
            </p:grpSpPr>
            <p:sp>
              <p:nvSpPr>
                <p:cNvPr id="379" name="Google Shape;379;p20"/>
                <p:cNvSpPr txBox="1"/>
                <p:nvPr/>
              </p:nvSpPr>
              <p:spPr>
                <a:xfrm>
                  <a:off x="714375" y="2057400"/>
                  <a:ext cx="1238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00">
                      <a:solidFill>
                        <a:srgbClr val="1E2937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Current/Intended Major</a:t>
                  </a:r>
                  <a:endParaRPr b="0" sz="800">
                    <a:solidFill>
                      <a:srgbClr val="1E293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380" name="Google Shape;380;p20"/>
                <p:cNvSpPr/>
                <p:nvPr/>
              </p:nvSpPr>
              <p:spPr>
                <a:xfrm>
                  <a:off x="2047875" y="2057400"/>
                  <a:ext cx="282900" cy="1428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CBD5E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" name="Google Shape;381;p20"/>
                <p:cNvSpPr txBox="1"/>
                <p:nvPr/>
              </p:nvSpPr>
              <p:spPr>
                <a:xfrm>
                  <a:off x="2378393" y="2057400"/>
                  <a:ext cx="476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80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0.056</a:t>
                  </a:r>
                  <a:endParaRPr b="1" sz="800">
                    <a:solidFill>
                      <a:srgbClr val="47556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382" name="Google Shape;382;p20"/>
              <p:cNvGrpSpPr/>
              <p:nvPr/>
            </p:nvGrpSpPr>
            <p:grpSpPr>
              <a:xfrm>
                <a:off x="714375" y="2305050"/>
                <a:ext cx="2130893" cy="142800"/>
                <a:chOff x="714375" y="2305050"/>
                <a:chExt cx="2130893" cy="142800"/>
              </a:xfrm>
            </p:grpSpPr>
            <p:sp>
              <p:nvSpPr>
                <p:cNvPr id="383" name="Google Shape;383;p20"/>
                <p:cNvSpPr txBox="1"/>
                <p:nvPr/>
              </p:nvSpPr>
              <p:spPr>
                <a:xfrm>
                  <a:off x="714375" y="2305050"/>
                  <a:ext cx="1238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00">
                      <a:solidFill>
                        <a:srgbClr val="1E2937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Institution Name</a:t>
                  </a:r>
                  <a:endParaRPr b="0" sz="800">
                    <a:solidFill>
                      <a:srgbClr val="1E293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384" name="Google Shape;384;p20"/>
                <p:cNvSpPr/>
                <p:nvPr/>
              </p:nvSpPr>
              <p:spPr>
                <a:xfrm>
                  <a:off x="2047875" y="2305050"/>
                  <a:ext cx="273300" cy="1428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CBD5E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20"/>
                <p:cNvSpPr txBox="1"/>
                <p:nvPr/>
              </p:nvSpPr>
              <p:spPr>
                <a:xfrm>
                  <a:off x="2368868" y="2305050"/>
                  <a:ext cx="476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80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0.054</a:t>
                  </a:r>
                  <a:endParaRPr b="1" sz="800">
                    <a:solidFill>
                      <a:srgbClr val="47556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386" name="Google Shape;386;p20"/>
              <p:cNvGrpSpPr/>
              <p:nvPr/>
            </p:nvGrpSpPr>
            <p:grpSpPr>
              <a:xfrm>
                <a:off x="714375" y="2552700"/>
                <a:ext cx="2120415" cy="142800"/>
                <a:chOff x="714375" y="2552700"/>
                <a:chExt cx="2120415" cy="142800"/>
              </a:xfrm>
            </p:grpSpPr>
            <p:sp>
              <p:nvSpPr>
                <p:cNvPr id="387" name="Google Shape;387;p20"/>
                <p:cNvSpPr txBox="1"/>
                <p:nvPr/>
              </p:nvSpPr>
              <p:spPr>
                <a:xfrm>
                  <a:off x="714375" y="2552700"/>
                  <a:ext cx="1238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00">
                      <a:solidFill>
                        <a:srgbClr val="1E2937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Age</a:t>
                  </a:r>
                  <a:endParaRPr b="0" sz="800">
                    <a:solidFill>
                      <a:srgbClr val="1E293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388" name="Google Shape;388;p20"/>
                <p:cNvSpPr/>
                <p:nvPr/>
              </p:nvSpPr>
              <p:spPr>
                <a:xfrm>
                  <a:off x="2047875" y="2552700"/>
                  <a:ext cx="262800" cy="1428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CBD5E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" name="Google Shape;389;p20"/>
                <p:cNvSpPr txBox="1"/>
                <p:nvPr/>
              </p:nvSpPr>
              <p:spPr>
                <a:xfrm>
                  <a:off x="2358390" y="2552700"/>
                  <a:ext cx="476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80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0.052</a:t>
                  </a:r>
                  <a:endParaRPr b="1" sz="800">
                    <a:solidFill>
                      <a:srgbClr val="47556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390" name="Google Shape;390;p20"/>
              <p:cNvGrpSpPr/>
              <p:nvPr/>
            </p:nvGrpSpPr>
            <p:grpSpPr>
              <a:xfrm>
                <a:off x="714375" y="2800350"/>
                <a:ext cx="2080410" cy="142800"/>
                <a:chOff x="714375" y="2800350"/>
                <a:chExt cx="2080410" cy="142800"/>
              </a:xfrm>
            </p:grpSpPr>
            <p:sp>
              <p:nvSpPr>
                <p:cNvPr id="391" name="Google Shape;391;p20"/>
                <p:cNvSpPr txBox="1"/>
                <p:nvPr/>
              </p:nvSpPr>
              <p:spPr>
                <a:xfrm>
                  <a:off x="714375" y="2800350"/>
                  <a:ext cx="1238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00">
                      <a:solidFill>
                        <a:srgbClr val="1E2937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Signup Hour</a:t>
                  </a:r>
                  <a:endParaRPr b="0" sz="800">
                    <a:solidFill>
                      <a:srgbClr val="1E293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392" name="Google Shape;392;p20"/>
                <p:cNvSpPr/>
                <p:nvPr/>
              </p:nvSpPr>
              <p:spPr>
                <a:xfrm>
                  <a:off x="2047875" y="2800350"/>
                  <a:ext cx="222900" cy="142800"/>
                </a:xfrm>
                <a:prstGeom prst="roundRect">
                  <a:avLst>
                    <a:gd fmla="val 20000" name="adj"/>
                  </a:avLst>
                </a:prstGeom>
                <a:solidFill>
                  <a:srgbClr val="CBD5E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" name="Google Shape;393;p20"/>
                <p:cNvSpPr txBox="1"/>
                <p:nvPr/>
              </p:nvSpPr>
              <p:spPr>
                <a:xfrm>
                  <a:off x="2318385" y="2800350"/>
                  <a:ext cx="476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80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0.044</a:t>
                  </a:r>
                  <a:endParaRPr b="1" sz="800">
                    <a:solidFill>
                      <a:srgbClr val="47556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394" name="Google Shape;394;p20"/>
              <p:cNvGrpSpPr/>
              <p:nvPr/>
            </p:nvGrpSpPr>
            <p:grpSpPr>
              <a:xfrm>
                <a:off x="714375" y="3048000"/>
                <a:ext cx="1993433" cy="142800"/>
                <a:chOff x="714375" y="3048000"/>
                <a:chExt cx="1993433" cy="142800"/>
              </a:xfrm>
            </p:grpSpPr>
            <p:sp>
              <p:nvSpPr>
                <p:cNvPr id="395" name="Google Shape;395;p20"/>
                <p:cNvSpPr txBox="1"/>
                <p:nvPr/>
              </p:nvSpPr>
              <p:spPr>
                <a:xfrm>
                  <a:off x="714375" y="3048000"/>
                  <a:ext cx="1238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00">
                      <a:solidFill>
                        <a:srgbClr val="1E2937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Signup DayOfWeek</a:t>
                  </a:r>
                  <a:endParaRPr b="0" sz="800">
                    <a:solidFill>
                      <a:srgbClr val="1E293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396" name="Google Shape;396;p20"/>
                <p:cNvSpPr/>
                <p:nvPr/>
              </p:nvSpPr>
              <p:spPr>
                <a:xfrm>
                  <a:off x="2047875" y="3048000"/>
                  <a:ext cx="136200" cy="142800"/>
                </a:xfrm>
                <a:prstGeom prst="roundRect">
                  <a:avLst>
                    <a:gd fmla="val 20979" name="adj"/>
                  </a:avLst>
                </a:prstGeom>
                <a:solidFill>
                  <a:srgbClr val="E2E8F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7" name="Google Shape;397;p20"/>
                <p:cNvSpPr txBox="1"/>
                <p:nvPr/>
              </p:nvSpPr>
              <p:spPr>
                <a:xfrm>
                  <a:off x="2231708" y="3048000"/>
                  <a:ext cx="4761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80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0.027</a:t>
                  </a:r>
                  <a:endParaRPr b="1" sz="800">
                    <a:solidFill>
                      <a:srgbClr val="47556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398" name="Google Shape;398;p20"/>
              <p:cNvGrpSpPr/>
              <p:nvPr/>
            </p:nvGrpSpPr>
            <p:grpSpPr>
              <a:xfrm>
                <a:off x="714375" y="3295650"/>
                <a:ext cx="1988670" cy="142800"/>
                <a:chOff x="714375" y="3295650"/>
                <a:chExt cx="1988670" cy="142800"/>
              </a:xfrm>
            </p:grpSpPr>
            <p:sp>
              <p:nvSpPr>
                <p:cNvPr id="399" name="Google Shape;399;p20"/>
                <p:cNvSpPr txBox="1"/>
                <p:nvPr/>
              </p:nvSpPr>
              <p:spPr>
                <a:xfrm>
                  <a:off x="714375" y="3295650"/>
                  <a:ext cx="1238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00">
                      <a:solidFill>
                        <a:srgbClr val="1E2937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Country</a:t>
                  </a:r>
                  <a:endParaRPr b="0" sz="800">
                    <a:solidFill>
                      <a:srgbClr val="1E293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400" name="Google Shape;400;p20"/>
                <p:cNvSpPr/>
                <p:nvPr/>
              </p:nvSpPr>
              <p:spPr>
                <a:xfrm>
                  <a:off x="2047875" y="3295650"/>
                  <a:ext cx="131400" cy="142800"/>
                </a:xfrm>
                <a:prstGeom prst="roundRect">
                  <a:avLst>
                    <a:gd fmla="val 21739" name="adj"/>
                  </a:avLst>
                </a:prstGeom>
                <a:solidFill>
                  <a:srgbClr val="E2E8F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" name="Google Shape;401;p20"/>
                <p:cNvSpPr txBox="1"/>
                <p:nvPr/>
              </p:nvSpPr>
              <p:spPr>
                <a:xfrm>
                  <a:off x="2226945" y="3295650"/>
                  <a:ext cx="4761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80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0.026</a:t>
                  </a:r>
                  <a:endParaRPr b="1" sz="800">
                    <a:solidFill>
                      <a:srgbClr val="47556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402" name="Google Shape;402;p20"/>
              <p:cNvGrpSpPr/>
              <p:nvPr/>
            </p:nvGrpSpPr>
            <p:grpSpPr>
              <a:xfrm>
                <a:off x="714375" y="3543300"/>
                <a:ext cx="1907708" cy="142800"/>
                <a:chOff x="714375" y="3543300"/>
                <a:chExt cx="1907708" cy="142800"/>
              </a:xfrm>
            </p:grpSpPr>
            <p:sp>
              <p:nvSpPr>
                <p:cNvPr id="403" name="Google Shape;403;p20"/>
                <p:cNvSpPr txBox="1"/>
                <p:nvPr/>
              </p:nvSpPr>
              <p:spPr>
                <a:xfrm>
                  <a:off x="714375" y="3543300"/>
                  <a:ext cx="12384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800">
                      <a:solidFill>
                        <a:srgbClr val="1E2937"/>
                      </a:solidFill>
                      <a:latin typeface="Poppins SemiBold"/>
                      <a:ea typeface="Poppins SemiBold"/>
                      <a:cs typeface="Poppins SemiBold"/>
                      <a:sym typeface="Poppins SemiBold"/>
                    </a:rPr>
                    <a:t>Gender</a:t>
                  </a:r>
                  <a:endParaRPr b="0" sz="800">
                    <a:solidFill>
                      <a:srgbClr val="1E293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endParaRPr>
                </a:p>
              </p:txBody>
            </p:sp>
            <p:sp>
              <p:nvSpPr>
                <p:cNvPr id="404" name="Google Shape;404;p20"/>
                <p:cNvSpPr/>
                <p:nvPr/>
              </p:nvSpPr>
              <p:spPr>
                <a:xfrm>
                  <a:off x="2047875" y="3543300"/>
                  <a:ext cx="50400" cy="142800"/>
                </a:xfrm>
                <a:prstGeom prst="roundRect">
                  <a:avLst>
                    <a:gd fmla="val 49999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5" name="Google Shape;405;p20"/>
                <p:cNvSpPr txBox="1"/>
                <p:nvPr/>
              </p:nvSpPr>
              <p:spPr>
                <a:xfrm>
                  <a:off x="2145983" y="3543300"/>
                  <a:ext cx="476100" cy="14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800">
                      <a:solidFill>
                        <a:srgbClr val="475569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0.010</a:t>
                  </a:r>
                  <a:endParaRPr b="1" sz="800">
                    <a:solidFill>
                      <a:srgbClr val="475569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</p:grpSp>
      <p:grpSp>
        <p:nvGrpSpPr>
          <p:cNvPr id="406" name="Google Shape;406;p20"/>
          <p:cNvGrpSpPr/>
          <p:nvPr/>
        </p:nvGrpSpPr>
        <p:grpSpPr>
          <a:xfrm>
            <a:off x="5334000" y="904875"/>
            <a:ext cx="3238500" cy="3000300"/>
            <a:chOff x="5334000" y="904875"/>
            <a:chExt cx="3238500" cy="3000300"/>
          </a:xfrm>
        </p:grpSpPr>
        <p:sp>
          <p:nvSpPr>
            <p:cNvPr id="407" name="Google Shape;407;p20"/>
            <p:cNvSpPr/>
            <p:nvPr/>
          </p:nvSpPr>
          <p:spPr>
            <a:xfrm>
              <a:off x="5334000" y="904875"/>
              <a:ext cx="3238500" cy="3000300"/>
            </a:xfrm>
            <a:prstGeom prst="roundRect">
              <a:avLst>
                <a:gd fmla="val 253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5334000" y="904875"/>
              <a:ext cx="3238500" cy="47700"/>
            </a:xfrm>
            <a:prstGeom prst="roundRect">
              <a:avLst>
                <a:gd fmla="val 4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0"/>
            <p:cNvSpPr txBox="1"/>
            <p:nvPr/>
          </p:nvSpPr>
          <p:spPr>
            <a:xfrm>
              <a:off x="5524500" y="104775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Key Business Insight</a:t>
              </a:r>
              <a:endParaRPr b="1" sz="1000">
                <a:solidFill>
                  <a:srgbClr val="CB46B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410" name="Google Shape;410;p20"/>
            <p:cNvGrpSpPr/>
            <p:nvPr/>
          </p:nvGrpSpPr>
          <p:grpSpPr>
            <a:xfrm>
              <a:off x="5524500" y="1333500"/>
              <a:ext cx="1333500" cy="619200"/>
              <a:chOff x="0" y="0"/>
              <a:chExt cx="1333500" cy="619200"/>
            </a:xfrm>
          </p:grpSpPr>
          <p:sp>
            <p:nvSpPr>
              <p:cNvPr id="411" name="Google Shape;411;p20"/>
              <p:cNvSpPr/>
              <p:nvPr/>
            </p:nvSpPr>
            <p:spPr>
              <a:xfrm>
                <a:off x="0" y="0"/>
                <a:ext cx="1333500" cy="619200"/>
              </a:xfrm>
              <a:prstGeom prst="roundRect">
                <a:avLst>
                  <a:gd fmla="val 9230" name="adj"/>
                </a:avLst>
              </a:prstGeom>
              <a:solidFill>
                <a:srgbClr val="FDF4FD"/>
              </a:solidFill>
              <a:ln cap="flat" cmpd="sng" w="9525">
                <a:solidFill>
                  <a:srgbClr val="F5D0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 txBox="1"/>
              <p:nvPr/>
            </p:nvSpPr>
            <p:spPr>
              <a:xfrm>
                <a:off x="114300" y="76200"/>
                <a:ext cx="1104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1E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Category</a:t>
                </a:r>
                <a:endParaRPr b="1" sz="1000">
                  <a:solidFill>
                    <a:srgbClr val="1E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0.433</a:t>
                </a:r>
                <a:endParaRPr b="1" sz="18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3" name="Google Shape;413;p20"/>
            <p:cNvGrpSpPr/>
            <p:nvPr/>
          </p:nvGrpSpPr>
          <p:grpSpPr>
            <a:xfrm>
              <a:off x="6953250" y="1333500"/>
              <a:ext cx="1333500" cy="619200"/>
              <a:chOff x="0" y="0"/>
              <a:chExt cx="1333500" cy="619200"/>
            </a:xfrm>
          </p:grpSpPr>
          <p:sp>
            <p:nvSpPr>
              <p:cNvPr id="414" name="Google Shape;414;p20"/>
              <p:cNvSpPr/>
              <p:nvPr/>
            </p:nvSpPr>
            <p:spPr>
              <a:xfrm>
                <a:off x="0" y="0"/>
                <a:ext cx="1333500" cy="619200"/>
              </a:xfrm>
              <a:prstGeom prst="roundRect">
                <a:avLst>
                  <a:gd fmla="val 9230" name="adj"/>
                </a:avLst>
              </a:prstGeom>
              <a:solidFill>
                <a:srgbClr val="FDF4FD"/>
              </a:solidFill>
              <a:ln cap="flat" cmpd="sng" w="9525">
                <a:solidFill>
                  <a:srgbClr val="F5D0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0"/>
              <p:cNvSpPr txBox="1"/>
              <p:nvPr/>
            </p:nvSpPr>
            <p:spPr>
              <a:xfrm>
                <a:off x="114300" y="76200"/>
                <a:ext cx="1104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1E2937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Duration</a:t>
                </a:r>
                <a:endParaRPr b="1" sz="1000">
                  <a:solidFill>
                    <a:srgbClr val="1E2937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0.240</a:t>
                </a:r>
                <a:endParaRPr b="1" sz="18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6" name="Google Shape;416;p20"/>
            <p:cNvGrpSpPr/>
            <p:nvPr/>
          </p:nvGrpSpPr>
          <p:grpSpPr>
            <a:xfrm>
              <a:off x="5524500" y="2076450"/>
              <a:ext cx="2762400" cy="714300"/>
              <a:chOff x="0" y="0"/>
              <a:chExt cx="2762400" cy="714300"/>
            </a:xfrm>
          </p:grpSpPr>
          <p:sp>
            <p:nvSpPr>
              <p:cNvPr id="417" name="Google Shape;417;p20"/>
              <p:cNvSpPr/>
              <p:nvPr/>
            </p:nvSpPr>
            <p:spPr>
              <a:xfrm>
                <a:off x="0" y="0"/>
                <a:ext cx="27624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CB46B1">
                  <a:alpha val="8000"/>
                </a:srgbClr>
              </a:solidFill>
              <a:ln cap="flat" cmpd="sng" w="9525">
                <a:solidFill>
                  <a:srgbClr val="F5D0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0"/>
              <p:cNvSpPr txBox="1"/>
              <p:nvPr/>
            </p:nvSpPr>
            <p:spPr>
              <a:xfrm>
                <a:off x="142875" y="95250"/>
                <a:ext cx="666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6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0.673</a:t>
                </a:r>
                <a:endParaRPr b="1" sz="186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19" name="Google Shape;419;p20"/>
              <p:cNvSpPr txBox="1"/>
              <p:nvPr/>
            </p:nvSpPr>
            <p:spPr>
              <a:xfrm>
                <a:off x="904875" y="95250"/>
                <a:ext cx="17145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Combined Influence</a:t>
                </a:r>
                <a:endParaRPr b="1" sz="11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GB" sz="723">
                    <a:solidFill>
                      <a:srgbClr val="475569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of Category &amp; Duration</a:t>
                </a:r>
                <a:endParaRPr sz="723">
                  <a:solidFill>
                    <a:srgbClr val="475569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</p:txBody>
          </p:sp>
        </p:grpSp>
        <p:sp>
          <p:nvSpPr>
            <p:cNvPr id="420" name="Google Shape;420;p20"/>
            <p:cNvSpPr txBox="1"/>
            <p:nvPr/>
          </p:nvSpPr>
          <p:spPr>
            <a:xfrm>
              <a:off x="5524500" y="2933700"/>
              <a:ext cx="2857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93">
                  <a:solidFill>
                    <a:srgbClr val="1E2937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Program design and duration are the strongest predictive drivers of participation.</a:t>
              </a:r>
              <a:endParaRPr sz="893">
                <a:solidFill>
                  <a:srgbClr val="1E2937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723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The data clearly signals that factors controlled during program formulation have far more leverage over learner engagement than demographic targeting or user profiles.</a:t>
              </a:r>
              <a:endParaRPr sz="723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21" name="Google Shape;421;p20"/>
          <p:cNvGrpSpPr/>
          <p:nvPr/>
        </p:nvGrpSpPr>
        <p:grpSpPr>
          <a:xfrm>
            <a:off x="571500" y="4048125"/>
            <a:ext cx="8001000" cy="476400"/>
            <a:chOff x="571500" y="4048125"/>
            <a:chExt cx="8001000" cy="476400"/>
          </a:xfrm>
        </p:grpSpPr>
        <p:sp>
          <p:nvSpPr>
            <p:cNvPr id="422" name="Google Shape;422;p20"/>
            <p:cNvSpPr/>
            <p:nvPr/>
          </p:nvSpPr>
          <p:spPr>
            <a:xfrm>
              <a:off x="571500" y="4048125"/>
              <a:ext cx="8001000" cy="476400"/>
            </a:xfrm>
            <a:prstGeom prst="roundRect">
              <a:avLst>
                <a:gd fmla="val 12000" name="adj"/>
              </a:avLst>
            </a:prstGeom>
            <a:solidFill>
              <a:srgbClr val="8619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0"/>
            <p:cNvSpPr txBox="1"/>
            <p:nvPr/>
          </p:nvSpPr>
          <p:spPr>
            <a:xfrm>
              <a:off x="762000" y="4048125"/>
              <a:ext cx="762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2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Strategic Implication: </a:t>
              </a:r>
              <a:r>
                <a:rPr lang="en-GB" sz="723">
                  <a:solidFill>
                    <a:srgbClr val="FDF4FD"/>
                  </a:solidFill>
                  <a:latin typeface="Open Sans"/>
                  <a:ea typeface="Open Sans"/>
                  <a:cs typeface="Open Sans"/>
                  <a:sym typeface="Open Sans"/>
                </a:rPr>
                <a:t>Focus optimization on opportunity design, duration and timing before demographic targeting.</a:t>
              </a:r>
              <a:endParaRPr b="1" sz="7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9" name="Google Shape;429;p21"/>
          <p:cNvGrpSpPr/>
          <p:nvPr/>
        </p:nvGrpSpPr>
        <p:grpSpPr>
          <a:xfrm>
            <a:off x="569862" y="1000125"/>
            <a:ext cx="3049638" cy="2905200"/>
            <a:chOff x="-1638" y="0"/>
            <a:chExt cx="3049638" cy="2905200"/>
          </a:xfrm>
        </p:grpSpPr>
        <p:sp>
          <p:nvSpPr>
            <p:cNvPr id="430" name="Google Shape;430;p21"/>
            <p:cNvSpPr/>
            <p:nvPr/>
          </p:nvSpPr>
          <p:spPr>
            <a:xfrm>
              <a:off x="0" y="0"/>
              <a:ext cx="3048000" cy="2905200"/>
            </a:xfrm>
            <a:prstGeom prst="roundRect">
              <a:avLst>
                <a:gd fmla="val 26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0" y="0"/>
              <a:ext cx="3048000" cy="477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1"/>
            <p:cNvSpPr txBox="1"/>
            <p:nvPr/>
          </p:nvSpPr>
          <p:spPr>
            <a:xfrm>
              <a:off x="142875" y="133350"/>
              <a:ext cx="1059600" cy="1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Feature Importance</a:t>
              </a:r>
              <a:endParaRPr b="1" sz="750">
                <a:solidFill>
                  <a:srgbClr val="CB46B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33" name="Google Shape;433;p21"/>
            <p:cNvGrpSpPr/>
            <p:nvPr/>
          </p:nvGrpSpPr>
          <p:grpSpPr>
            <a:xfrm>
              <a:off x="-1638" y="333375"/>
              <a:ext cx="2298888" cy="1683435"/>
              <a:chOff x="-144513" y="0"/>
              <a:chExt cx="2298888" cy="1683435"/>
            </a:xfrm>
          </p:grpSpPr>
          <p:grpSp>
            <p:nvGrpSpPr>
              <p:cNvPr id="434" name="Google Shape;434;p21"/>
              <p:cNvGrpSpPr/>
              <p:nvPr/>
            </p:nvGrpSpPr>
            <p:grpSpPr>
              <a:xfrm>
                <a:off x="-120967" y="0"/>
                <a:ext cx="2275343" cy="144075"/>
                <a:chOff x="-120967" y="0"/>
                <a:chExt cx="2275343" cy="144075"/>
              </a:xfrm>
            </p:grpSpPr>
            <p:sp>
              <p:nvSpPr>
                <p:cNvPr id="435" name="Google Shape;435;p21"/>
                <p:cNvSpPr/>
                <p:nvPr/>
              </p:nvSpPr>
              <p:spPr>
                <a:xfrm>
                  <a:off x="0" y="0"/>
                  <a:ext cx="8097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21"/>
                <p:cNvSpPr txBox="1"/>
                <p:nvPr/>
              </p:nvSpPr>
              <p:spPr>
                <a:xfrm>
                  <a:off x="-120968" y="28575"/>
                  <a:ext cx="882900" cy="11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63">
                      <a:solidFill>
                        <a:srgbClr val="1E2937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Opportunity Category</a:t>
                  </a:r>
                  <a:endParaRPr b="1" sz="563">
                    <a:solidFill>
                      <a:srgbClr val="1E2937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37" name="Google Shape;437;p21"/>
                <p:cNvSpPr/>
                <p:nvPr/>
              </p:nvSpPr>
              <p:spPr>
                <a:xfrm>
                  <a:off x="857250" y="0"/>
                  <a:ext cx="10287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CB46B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21"/>
                <p:cNvSpPr txBox="1"/>
                <p:nvPr/>
              </p:nvSpPr>
              <p:spPr>
                <a:xfrm>
                  <a:off x="1933575" y="28575"/>
                  <a:ext cx="220800" cy="11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63">
                      <a:solidFill>
                        <a:srgbClr val="CB46B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0.433</a:t>
                  </a:r>
                  <a:endParaRPr b="1" sz="563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439" name="Google Shape;439;p21"/>
              <p:cNvGrpSpPr/>
              <p:nvPr/>
            </p:nvGrpSpPr>
            <p:grpSpPr>
              <a:xfrm>
                <a:off x="-120968" y="171450"/>
                <a:ext cx="1818143" cy="144075"/>
                <a:chOff x="-120967" y="0"/>
                <a:chExt cx="1818143" cy="144075"/>
              </a:xfrm>
            </p:grpSpPr>
            <p:sp>
              <p:nvSpPr>
                <p:cNvPr id="440" name="Google Shape;440;p21"/>
                <p:cNvSpPr/>
                <p:nvPr/>
              </p:nvSpPr>
              <p:spPr>
                <a:xfrm>
                  <a:off x="0" y="0"/>
                  <a:ext cx="8097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21"/>
                <p:cNvSpPr txBox="1"/>
                <p:nvPr/>
              </p:nvSpPr>
              <p:spPr>
                <a:xfrm>
                  <a:off x="-120968" y="28575"/>
                  <a:ext cx="882900" cy="11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63">
                      <a:solidFill>
                        <a:srgbClr val="1E2937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Opportunity Duration</a:t>
                  </a:r>
                  <a:endParaRPr b="1" sz="563">
                    <a:solidFill>
                      <a:srgbClr val="1E2937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42" name="Google Shape;442;p21"/>
                <p:cNvSpPr/>
                <p:nvPr/>
              </p:nvSpPr>
              <p:spPr>
                <a:xfrm>
                  <a:off x="857250" y="0"/>
                  <a:ext cx="5715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CB46B1">
                    <a:alpha val="8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" name="Google Shape;443;p21"/>
                <p:cNvSpPr txBox="1"/>
                <p:nvPr/>
              </p:nvSpPr>
              <p:spPr>
                <a:xfrm>
                  <a:off x="1476375" y="28575"/>
                  <a:ext cx="220800" cy="11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563">
                      <a:solidFill>
                        <a:srgbClr val="CB46B1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0.240</a:t>
                  </a:r>
                  <a:endParaRPr b="1" sz="563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444" name="Google Shape;444;p21"/>
              <p:cNvGrpSpPr/>
              <p:nvPr/>
            </p:nvGrpSpPr>
            <p:grpSpPr>
              <a:xfrm>
                <a:off x="0" y="342900"/>
                <a:ext cx="1253850" cy="140385"/>
                <a:chOff x="0" y="0"/>
                <a:chExt cx="1253850" cy="140385"/>
              </a:xfrm>
            </p:grpSpPr>
            <p:sp>
              <p:nvSpPr>
                <p:cNvPr id="445" name="Google Shape;445;p21"/>
                <p:cNvSpPr/>
                <p:nvPr/>
              </p:nvSpPr>
              <p:spPr>
                <a:xfrm>
                  <a:off x="0" y="0"/>
                  <a:ext cx="8097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21"/>
                <p:cNvSpPr txBox="1"/>
                <p:nvPr/>
              </p:nvSpPr>
              <p:spPr>
                <a:xfrm>
                  <a:off x="267538" y="32385"/>
                  <a:ext cx="4944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Signup Month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447" name="Google Shape;447;p21"/>
                <p:cNvSpPr/>
                <p:nvPr/>
              </p:nvSpPr>
              <p:spPr>
                <a:xfrm>
                  <a:off x="857250" y="0"/>
                  <a:ext cx="1428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E2E8F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21"/>
                <p:cNvSpPr txBox="1"/>
                <p:nvPr/>
              </p:nvSpPr>
              <p:spPr>
                <a:xfrm>
                  <a:off x="1047750" y="32385"/>
                  <a:ext cx="2061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0.058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</p:grpSp>
          <p:grpSp>
            <p:nvGrpSpPr>
              <p:cNvPr id="449" name="Google Shape;449;p21"/>
              <p:cNvGrpSpPr/>
              <p:nvPr/>
            </p:nvGrpSpPr>
            <p:grpSpPr>
              <a:xfrm>
                <a:off x="-144513" y="514350"/>
                <a:ext cx="1388838" cy="140385"/>
                <a:chOff x="-144513" y="0"/>
                <a:chExt cx="1388838" cy="140385"/>
              </a:xfrm>
            </p:grpSpPr>
            <p:sp>
              <p:nvSpPr>
                <p:cNvPr id="450" name="Google Shape;450;p21"/>
                <p:cNvSpPr/>
                <p:nvPr/>
              </p:nvSpPr>
              <p:spPr>
                <a:xfrm>
                  <a:off x="0" y="0"/>
                  <a:ext cx="8097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1" name="Google Shape;451;p21"/>
                <p:cNvSpPr txBox="1"/>
                <p:nvPr/>
              </p:nvSpPr>
              <p:spPr>
                <a:xfrm>
                  <a:off x="-144513" y="32385"/>
                  <a:ext cx="9066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Current/Intended Major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452" name="Google Shape;452;p21"/>
                <p:cNvSpPr/>
                <p:nvPr/>
              </p:nvSpPr>
              <p:spPr>
                <a:xfrm>
                  <a:off x="857250" y="0"/>
                  <a:ext cx="1335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E2E8F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" name="Google Shape;453;p21"/>
                <p:cNvSpPr txBox="1"/>
                <p:nvPr/>
              </p:nvSpPr>
              <p:spPr>
                <a:xfrm>
                  <a:off x="1038225" y="32385"/>
                  <a:ext cx="2061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0.056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</p:grpSp>
          <p:grpSp>
            <p:nvGrpSpPr>
              <p:cNvPr id="454" name="Google Shape;454;p21"/>
              <p:cNvGrpSpPr/>
              <p:nvPr/>
            </p:nvGrpSpPr>
            <p:grpSpPr>
              <a:xfrm>
                <a:off x="0" y="685800"/>
                <a:ext cx="1234800" cy="140385"/>
                <a:chOff x="0" y="0"/>
                <a:chExt cx="1234800" cy="140385"/>
              </a:xfrm>
            </p:grpSpPr>
            <p:sp>
              <p:nvSpPr>
                <p:cNvPr id="455" name="Google Shape;455;p21"/>
                <p:cNvSpPr/>
                <p:nvPr/>
              </p:nvSpPr>
              <p:spPr>
                <a:xfrm>
                  <a:off x="0" y="0"/>
                  <a:ext cx="8097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" name="Google Shape;456;p21"/>
                <p:cNvSpPr txBox="1"/>
                <p:nvPr/>
              </p:nvSpPr>
              <p:spPr>
                <a:xfrm>
                  <a:off x="102718" y="32385"/>
                  <a:ext cx="6594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Institution Name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457" name="Google Shape;457;p21"/>
                <p:cNvSpPr/>
                <p:nvPr/>
              </p:nvSpPr>
              <p:spPr>
                <a:xfrm>
                  <a:off x="857250" y="0"/>
                  <a:ext cx="1239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E2E8F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" name="Google Shape;458;p21"/>
                <p:cNvSpPr txBox="1"/>
                <p:nvPr/>
              </p:nvSpPr>
              <p:spPr>
                <a:xfrm>
                  <a:off x="1028700" y="32385"/>
                  <a:ext cx="2061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0.054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</p:grpSp>
          <p:grpSp>
            <p:nvGrpSpPr>
              <p:cNvPr id="459" name="Google Shape;459;p21"/>
              <p:cNvGrpSpPr/>
              <p:nvPr/>
            </p:nvGrpSpPr>
            <p:grpSpPr>
              <a:xfrm>
                <a:off x="0" y="857250"/>
                <a:ext cx="1234800" cy="140385"/>
                <a:chOff x="0" y="0"/>
                <a:chExt cx="1234800" cy="140385"/>
              </a:xfrm>
            </p:grpSpPr>
            <p:sp>
              <p:nvSpPr>
                <p:cNvPr id="460" name="Google Shape;460;p21"/>
                <p:cNvSpPr/>
                <p:nvPr/>
              </p:nvSpPr>
              <p:spPr>
                <a:xfrm>
                  <a:off x="0" y="0"/>
                  <a:ext cx="8097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21"/>
                <p:cNvSpPr txBox="1"/>
                <p:nvPr/>
              </p:nvSpPr>
              <p:spPr>
                <a:xfrm>
                  <a:off x="638385" y="32385"/>
                  <a:ext cx="1236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Age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462" name="Google Shape;462;p21"/>
                <p:cNvSpPr/>
                <p:nvPr/>
              </p:nvSpPr>
              <p:spPr>
                <a:xfrm>
                  <a:off x="857250" y="0"/>
                  <a:ext cx="1239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E2E8F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3" name="Google Shape;463;p21"/>
                <p:cNvSpPr txBox="1"/>
                <p:nvPr/>
              </p:nvSpPr>
              <p:spPr>
                <a:xfrm>
                  <a:off x="1028700" y="32385"/>
                  <a:ext cx="2061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0.052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</p:grpSp>
          <p:grpSp>
            <p:nvGrpSpPr>
              <p:cNvPr id="464" name="Google Shape;464;p21"/>
              <p:cNvGrpSpPr/>
              <p:nvPr/>
            </p:nvGrpSpPr>
            <p:grpSpPr>
              <a:xfrm>
                <a:off x="0" y="1028700"/>
                <a:ext cx="1215750" cy="140385"/>
                <a:chOff x="0" y="0"/>
                <a:chExt cx="1215750" cy="140385"/>
              </a:xfrm>
            </p:grpSpPr>
            <p:sp>
              <p:nvSpPr>
                <p:cNvPr id="465" name="Google Shape;465;p21"/>
                <p:cNvSpPr/>
                <p:nvPr/>
              </p:nvSpPr>
              <p:spPr>
                <a:xfrm>
                  <a:off x="0" y="0"/>
                  <a:ext cx="8097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6" name="Google Shape;466;p21"/>
                <p:cNvSpPr txBox="1"/>
                <p:nvPr/>
              </p:nvSpPr>
              <p:spPr>
                <a:xfrm>
                  <a:off x="308743" y="32385"/>
                  <a:ext cx="4533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Signup Hour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467" name="Google Shape;467;p21"/>
                <p:cNvSpPr/>
                <p:nvPr/>
              </p:nvSpPr>
              <p:spPr>
                <a:xfrm>
                  <a:off x="857250" y="0"/>
                  <a:ext cx="104700" cy="114300"/>
                </a:xfrm>
                <a:prstGeom prst="roundRect">
                  <a:avLst>
                    <a:gd fmla="val 18181" name="adj"/>
                  </a:avLst>
                </a:prstGeom>
                <a:solidFill>
                  <a:srgbClr val="E2E8F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8" name="Google Shape;468;p21"/>
                <p:cNvSpPr txBox="1"/>
                <p:nvPr/>
              </p:nvSpPr>
              <p:spPr>
                <a:xfrm>
                  <a:off x="1009650" y="32385"/>
                  <a:ext cx="2061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0.044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</p:grpSp>
          <p:grpSp>
            <p:nvGrpSpPr>
              <p:cNvPr id="469" name="Google Shape;469;p21"/>
              <p:cNvGrpSpPr/>
              <p:nvPr/>
            </p:nvGrpSpPr>
            <p:grpSpPr>
              <a:xfrm>
                <a:off x="0" y="1200150"/>
                <a:ext cx="1177650" cy="140385"/>
                <a:chOff x="0" y="0"/>
                <a:chExt cx="1177650" cy="140385"/>
              </a:xfrm>
            </p:grpSpPr>
            <p:sp>
              <p:nvSpPr>
                <p:cNvPr id="470" name="Google Shape;470;p21"/>
                <p:cNvSpPr/>
                <p:nvPr/>
              </p:nvSpPr>
              <p:spPr>
                <a:xfrm>
                  <a:off x="0" y="0"/>
                  <a:ext cx="8097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1" name="Google Shape;471;p21"/>
                <p:cNvSpPr txBox="1"/>
                <p:nvPr/>
              </p:nvSpPr>
              <p:spPr>
                <a:xfrm>
                  <a:off x="102718" y="32385"/>
                  <a:ext cx="6594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Signup DayOfWeek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472" name="Google Shape;472;p21"/>
                <p:cNvSpPr/>
                <p:nvPr/>
              </p:nvSpPr>
              <p:spPr>
                <a:xfrm>
                  <a:off x="857250" y="0"/>
                  <a:ext cx="66600" cy="114300"/>
                </a:xfrm>
                <a:prstGeom prst="roundRect">
                  <a:avLst>
                    <a:gd fmla="val 28571" name="adj"/>
                  </a:avLst>
                </a:prstGeom>
                <a:solidFill>
                  <a:srgbClr val="E2E8F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3" name="Google Shape;473;p21"/>
                <p:cNvSpPr txBox="1"/>
                <p:nvPr/>
              </p:nvSpPr>
              <p:spPr>
                <a:xfrm>
                  <a:off x="971550" y="32385"/>
                  <a:ext cx="2061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0.027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</p:grpSp>
          <p:grpSp>
            <p:nvGrpSpPr>
              <p:cNvPr id="474" name="Google Shape;474;p21"/>
              <p:cNvGrpSpPr/>
              <p:nvPr/>
            </p:nvGrpSpPr>
            <p:grpSpPr>
              <a:xfrm>
                <a:off x="0" y="1371600"/>
                <a:ext cx="1177650" cy="140385"/>
                <a:chOff x="0" y="0"/>
                <a:chExt cx="1177650" cy="140385"/>
              </a:xfrm>
            </p:grpSpPr>
            <p:sp>
              <p:nvSpPr>
                <p:cNvPr id="475" name="Google Shape;475;p21"/>
                <p:cNvSpPr/>
                <p:nvPr/>
              </p:nvSpPr>
              <p:spPr>
                <a:xfrm>
                  <a:off x="0" y="0"/>
                  <a:ext cx="8097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" name="Google Shape;476;p21"/>
                <p:cNvSpPr txBox="1"/>
                <p:nvPr/>
              </p:nvSpPr>
              <p:spPr>
                <a:xfrm>
                  <a:off x="473564" y="32385"/>
                  <a:ext cx="2883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Country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477" name="Google Shape;477;p21"/>
                <p:cNvSpPr/>
                <p:nvPr/>
              </p:nvSpPr>
              <p:spPr>
                <a:xfrm>
                  <a:off x="857250" y="0"/>
                  <a:ext cx="66600" cy="114300"/>
                </a:xfrm>
                <a:prstGeom prst="roundRect">
                  <a:avLst>
                    <a:gd fmla="val 28571" name="adj"/>
                  </a:avLst>
                </a:prstGeom>
                <a:solidFill>
                  <a:srgbClr val="E2E8F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21"/>
                <p:cNvSpPr txBox="1"/>
                <p:nvPr/>
              </p:nvSpPr>
              <p:spPr>
                <a:xfrm>
                  <a:off x="971550" y="32385"/>
                  <a:ext cx="2061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0.026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</p:grpSp>
          <p:grpSp>
            <p:nvGrpSpPr>
              <p:cNvPr id="479" name="Google Shape;479;p21"/>
              <p:cNvGrpSpPr/>
              <p:nvPr/>
            </p:nvGrpSpPr>
            <p:grpSpPr>
              <a:xfrm>
                <a:off x="0" y="1543050"/>
                <a:ext cx="1139550" cy="140385"/>
                <a:chOff x="0" y="0"/>
                <a:chExt cx="1139550" cy="140385"/>
              </a:xfrm>
            </p:grpSpPr>
            <p:sp>
              <p:nvSpPr>
                <p:cNvPr id="480" name="Google Shape;480;p21"/>
                <p:cNvSpPr/>
                <p:nvPr/>
              </p:nvSpPr>
              <p:spPr>
                <a:xfrm>
                  <a:off x="0" y="0"/>
                  <a:ext cx="8097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1F5F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21"/>
                <p:cNvSpPr txBox="1"/>
                <p:nvPr/>
              </p:nvSpPr>
              <p:spPr>
                <a:xfrm>
                  <a:off x="514769" y="32385"/>
                  <a:ext cx="2472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Gender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482" name="Google Shape;482;p21"/>
                <p:cNvSpPr/>
                <p:nvPr/>
              </p:nvSpPr>
              <p:spPr>
                <a:xfrm>
                  <a:off x="857250" y="0"/>
                  <a:ext cx="28500" cy="1143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E2E8F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21"/>
                <p:cNvSpPr txBox="1"/>
                <p:nvPr/>
              </p:nvSpPr>
              <p:spPr>
                <a:xfrm>
                  <a:off x="933450" y="32385"/>
                  <a:ext cx="206100" cy="1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GB" sz="486">
                      <a:solidFill>
                        <a:srgbClr val="64748B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0.010</a:t>
                  </a:r>
                  <a:endParaRPr b="0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</p:grpSp>
        </p:grpSp>
        <p:grpSp>
          <p:nvGrpSpPr>
            <p:cNvPr id="484" name="Google Shape;484;p21"/>
            <p:cNvGrpSpPr/>
            <p:nvPr/>
          </p:nvGrpSpPr>
          <p:grpSpPr>
            <a:xfrm>
              <a:off x="142875" y="2095500"/>
              <a:ext cx="2762400" cy="666900"/>
              <a:chOff x="0" y="0"/>
              <a:chExt cx="2762400" cy="666900"/>
            </a:xfrm>
          </p:grpSpPr>
          <p:sp>
            <p:nvSpPr>
              <p:cNvPr id="485" name="Google Shape;485;p21"/>
              <p:cNvSpPr/>
              <p:nvPr/>
            </p:nvSpPr>
            <p:spPr>
              <a:xfrm>
                <a:off x="0" y="0"/>
                <a:ext cx="2762400" cy="666900"/>
              </a:xfrm>
              <a:prstGeom prst="roundRect">
                <a:avLst>
                  <a:gd fmla="val 8571" name="adj"/>
                </a:avLst>
              </a:prstGeom>
              <a:solidFill>
                <a:srgbClr val="FDF4FD"/>
              </a:solidFill>
              <a:ln cap="flat" cmpd="sng" w="9525">
                <a:solidFill>
                  <a:srgbClr val="F5D0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1"/>
              <p:cNvSpPr txBox="1"/>
              <p:nvPr/>
            </p:nvSpPr>
            <p:spPr>
              <a:xfrm>
                <a:off x="95250" y="76200"/>
                <a:ext cx="25719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5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Key Insight:</a:t>
                </a:r>
                <a:r>
                  <a:rPr lang="en-GB" sz="75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Opportunity Category and Duration account for the strongest predictive influence. Together they form the core drivers derived from Random Forest feature analysis.</a:t>
                </a:r>
                <a:endParaRPr sz="7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487" name="Google Shape;487;p21"/>
          <p:cNvGrpSpPr/>
          <p:nvPr/>
        </p:nvGrpSpPr>
        <p:grpSpPr>
          <a:xfrm>
            <a:off x="3713131" y="1000125"/>
            <a:ext cx="2430644" cy="2905200"/>
            <a:chOff x="-49244" y="0"/>
            <a:chExt cx="2430644" cy="2905200"/>
          </a:xfrm>
        </p:grpSpPr>
        <p:sp>
          <p:nvSpPr>
            <p:cNvPr id="488" name="Google Shape;488;p21"/>
            <p:cNvSpPr/>
            <p:nvPr/>
          </p:nvSpPr>
          <p:spPr>
            <a:xfrm>
              <a:off x="0" y="0"/>
              <a:ext cx="2381400" cy="29052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0" y="0"/>
              <a:ext cx="2381400" cy="477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1"/>
            <p:cNvSpPr txBox="1"/>
            <p:nvPr/>
          </p:nvSpPr>
          <p:spPr>
            <a:xfrm>
              <a:off x="142875" y="133350"/>
              <a:ext cx="1118400" cy="1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RF Confusion Matrix</a:t>
              </a:r>
              <a:endParaRPr b="1" sz="750">
                <a:solidFill>
                  <a:srgbClr val="CB46B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91" name="Google Shape;491;p21"/>
            <p:cNvGrpSpPr/>
            <p:nvPr/>
          </p:nvGrpSpPr>
          <p:grpSpPr>
            <a:xfrm>
              <a:off x="-49244" y="283845"/>
              <a:ext cx="1906694" cy="1097355"/>
              <a:chOff x="-573119" y="-144780"/>
              <a:chExt cx="1906694" cy="1097355"/>
            </a:xfrm>
          </p:grpSpPr>
          <p:sp>
            <p:nvSpPr>
              <p:cNvPr id="492" name="Google Shape;492;p21"/>
              <p:cNvSpPr txBox="1"/>
              <p:nvPr/>
            </p:nvSpPr>
            <p:spPr>
              <a:xfrm>
                <a:off x="151428" y="-144780"/>
                <a:ext cx="459000" cy="1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45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Predicted No</a:t>
                </a:r>
                <a:endParaRPr b="1" sz="45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3" name="Google Shape;493;p21"/>
              <p:cNvSpPr txBox="1"/>
              <p:nvPr/>
            </p:nvSpPr>
            <p:spPr>
              <a:xfrm>
                <a:off x="799047" y="-144780"/>
                <a:ext cx="497400" cy="1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45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Predicted Yes</a:t>
                </a:r>
                <a:endParaRPr b="1" sz="45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4" name="Google Shape;494;p21"/>
              <p:cNvSpPr txBox="1"/>
              <p:nvPr/>
            </p:nvSpPr>
            <p:spPr>
              <a:xfrm>
                <a:off x="-534857" y="255270"/>
                <a:ext cx="344400" cy="1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45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Actual No</a:t>
                </a:r>
                <a:endParaRPr b="1" sz="45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5" name="Google Shape;495;p21"/>
              <p:cNvSpPr txBox="1"/>
              <p:nvPr/>
            </p:nvSpPr>
            <p:spPr>
              <a:xfrm>
                <a:off x="-573119" y="731520"/>
                <a:ext cx="382500" cy="1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45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Actual Yes</a:t>
                </a:r>
                <a:endParaRPr b="1" sz="45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6" name="Google Shape;496;p21"/>
              <p:cNvSpPr/>
              <p:nvPr/>
            </p:nvSpPr>
            <p:spPr>
              <a:xfrm>
                <a:off x="47625" y="47625"/>
                <a:ext cx="6192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CB46B1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1"/>
              <p:cNvSpPr txBox="1"/>
              <p:nvPr/>
            </p:nvSpPr>
            <p:spPr>
              <a:xfrm>
                <a:off x="228810" y="179070"/>
                <a:ext cx="247200" cy="21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71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845</a:t>
                </a:r>
                <a:endParaRPr b="1" sz="971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8" name="Google Shape;498;p21"/>
              <p:cNvSpPr txBox="1"/>
              <p:nvPr/>
            </p:nvSpPr>
            <p:spPr>
              <a:xfrm>
                <a:off x="122853" y="354330"/>
                <a:ext cx="4590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45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True Neg (TN)</a:t>
                </a:r>
                <a:endParaRPr b="0" sz="45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499" name="Google Shape;499;p21"/>
              <p:cNvSpPr/>
              <p:nvPr/>
            </p:nvSpPr>
            <p:spPr>
              <a:xfrm>
                <a:off x="714375" y="47625"/>
                <a:ext cx="6192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1"/>
              <p:cNvSpPr txBox="1"/>
              <p:nvPr/>
            </p:nvSpPr>
            <p:spPr>
              <a:xfrm>
                <a:off x="936765" y="179070"/>
                <a:ext cx="164700" cy="21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71">
                    <a:solidFill>
                      <a:srgbClr val="47556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52</a:t>
                </a:r>
                <a:endParaRPr b="1" sz="971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1" name="Google Shape;501;p21"/>
              <p:cNvSpPr txBox="1"/>
              <p:nvPr/>
            </p:nvSpPr>
            <p:spPr>
              <a:xfrm>
                <a:off x="771944" y="354330"/>
                <a:ext cx="4944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45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False Pos (FP)</a:t>
                </a:r>
                <a:endParaRPr b="0" sz="45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502" name="Google Shape;502;p21"/>
              <p:cNvSpPr/>
              <p:nvPr/>
            </p:nvSpPr>
            <p:spPr>
              <a:xfrm>
                <a:off x="47625" y="523875"/>
                <a:ext cx="6192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1"/>
              <p:cNvSpPr txBox="1"/>
              <p:nvPr/>
            </p:nvSpPr>
            <p:spPr>
              <a:xfrm>
                <a:off x="228810" y="655320"/>
                <a:ext cx="247200" cy="21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71">
                    <a:solidFill>
                      <a:srgbClr val="475569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187</a:t>
                </a:r>
                <a:endParaRPr b="1" sz="971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4" name="Google Shape;504;p21"/>
              <p:cNvSpPr txBox="1"/>
              <p:nvPr/>
            </p:nvSpPr>
            <p:spPr>
              <a:xfrm>
                <a:off x="105194" y="830580"/>
                <a:ext cx="4944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45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False Neg (FN)</a:t>
                </a:r>
                <a:endParaRPr b="0" sz="45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  <p:sp>
            <p:nvSpPr>
              <p:cNvPr id="505" name="Google Shape;505;p21"/>
              <p:cNvSpPr/>
              <p:nvPr/>
            </p:nvSpPr>
            <p:spPr>
              <a:xfrm>
                <a:off x="714375" y="523875"/>
                <a:ext cx="6192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CB46B1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1"/>
              <p:cNvSpPr txBox="1"/>
              <p:nvPr/>
            </p:nvSpPr>
            <p:spPr>
              <a:xfrm>
                <a:off x="895560" y="655320"/>
                <a:ext cx="247200" cy="21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71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628</a:t>
                </a:r>
                <a:endParaRPr b="1" sz="971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07" name="Google Shape;507;p21"/>
              <p:cNvSpPr txBox="1"/>
              <p:nvPr/>
            </p:nvSpPr>
            <p:spPr>
              <a:xfrm>
                <a:off x="789603" y="830580"/>
                <a:ext cx="459000" cy="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45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True Pos (TP)</a:t>
                </a:r>
                <a:endParaRPr b="0" sz="45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508" name="Google Shape;508;p21"/>
            <p:cNvGrpSpPr/>
            <p:nvPr/>
          </p:nvGrpSpPr>
          <p:grpSpPr>
            <a:xfrm>
              <a:off x="142875" y="1600200"/>
              <a:ext cx="2095500" cy="1162200"/>
              <a:chOff x="0" y="0"/>
              <a:chExt cx="2095500" cy="1162200"/>
            </a:xfrm>
          </p:grpSpPr>
          <p:sp>
            <p:nvSpPr>
              <p:cNvPr id="509" name="Google Shape;509;p21"/>
              <p:cNvSpPr/>
              <p:nvPr/>
            </p:nvSpPr>
            <p:spPr>
              <a:xfrm>
                <a:off x="0" y="0"/>
                <a:ext cx="2095500" cy="1162200"/>
              </a:xfrm>
              <a:prstGeom prst="roundRect">
                <a:avLst>
                  <a:gd fmla="val 4918" name="adj"/>
                </a:avLst>
              </a:prstGeom>
              <a:solidFill>
                <a:srgbClr val="FDF4FD"/>
              </a:solidFill>
              <a:ln cap="flat" cmpd="sng" w="9525">
                <a:solidFill>
                  <a:srgbClr val="F5D0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1"/>
              <p:cNvSpPr txBox="1"/>
              <p:nvPr/>
            </p:nvSpPr>
            <p:spPr>
              <a:xfrm>
                <a:off x="95250" y="76200"/>
                <a:ext cx="1905000" cy="10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2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Classification Power:</a:t>
                </a:r>
                <a:br>
                  <a:rPr lang="en-GB" sz="72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</a:br>
                <a:endParaRPr sz="72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-GB" sz="72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1,473 of 1,712</a:t>
                </a:r>
                <a:r>
                  <a:rPr lang="en-GB" sz="72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observations were correctly classified, indicating high model precision and operational predictability.</a:t>
                </a:r>
                <a:endParaRPr sz="72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511" name="Google Shape;511;p21"/>
          <p:cNvGrpSpPr/>
          <p:nvPr/>
        </p:nvGrpSpPr>
        <p:grpSpPr>
          <a:xfrm>
            <a:off x="571500" y="361950"/>
            <a:ext cx="8000757" cy="517530"/>
            <a:chOff x="0" y="76200"/>
            <a:chExt cx="6475200" cy="517530"/>
          </a:xfrm>
        </p:grpSpPr>
        <p:sp>
          <p:nvSpPr>
            <p:cNvPr id="512" name="Google Shape;512;p21"/>
            <p:cNvSpPr txBox="1"/>
            <p:nvPr/>
          </p:nvSpPr>
          <p:spPr>
            <a:xfrm>
              <a:off x="0" y="76200"/>
              <a:ext cx="6475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A1A1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Model Interpretation &amp; Prediction Insights</a:t>
              </a:r>
              <a:endParaRPr sz="2400">
                <a:solidFill>
                  <a:srgbClr val="1A1A1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513" name="Google Shape;513;p21"/>
            <p:cNvSpPr txBox="1"/>
            <p:nvPr/>
          </p:nvSpPr>
          <p:spPr>
            <a:xfrm>
              <a:off x="0" y="439530"/>
              <a:ext cx="6475200" cy="1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Understanding why the model predicts participation and how accurately it distinguishes participating learners.</a:t>
              </a:r>
              <a:endParaRPr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14" name="Google Shape;514;p21"/>
          <p:cNvGrpSpPr/>
          <p:nvPr/>
        </p:nvGrpSpPr>
        <p:grpSpPr>
          <a:xfrm>
            <a:off x="6286500" y="1000125"/>
            <a:ext cx="2286000" cy="2905200"/>
            <a:chOff x="0" y="0"/>
            <a:chExt cx="2286000" cy="2905200"/>
          </a:xfrm>
        </p:grpSpPr>
        <p:sp>
          <p:nvSpPr>
            <p:cNvPr id="515" name="Google Shape;515;p21"/>
            <p:cNvSpPr/>
            <p:nvPr/>
          </p:nvSpPr>
          <p:spPr>
            <a:xfrm>
              <a:off x="0" y="0"/>
              <a:ext cx="2286000" cy="29052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0" y="0"/>
              <a:ext cx="2286000" cy="477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1"/>
            <p:cNvSpPr txBox="1"/>
            <p:nvPr/>
          </p:nvSpPr>
          <p:spPr>
            <a:xfrm>
              <a:off x="142875" y="133350"/>
              <a:ext cx="1765800" cy="1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ROC Classification Performance</a:t>
              </a:r>
              <a:endParaRPr b="1" sz="750">
                <a:solidFill>
                  <a:srgbClr val="CB46B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18" name="Google Shape;518;p21"/>
            <p:cNvGrpSpPr/>
            <p:nvPr/>
          </p:nvGrpSpPr>
          <p:grpSpPr>
            <a:xfrm>
              <a:off x="114300" y="509588"/>
              <a:ext cx="1223963" cy="1230997"/>
              <a:chOff x="-171450" y="-14287"/>
              <a:chExt cx="1223963" cy="1230998"/>
            </a:xfrm>
          </p:grpSpPr>
          <p:sp>
            <p:nvSpPr>
              <p:cNvPr id="519" name="Google Shape;519;p21"/>
              <p:cNvSpPr/>
              <p:nvPr/>
            </p:nvSpPr>
            <p:spPr>
              <a:xfrm>
                <a:off x="0" y="0"/>
                <a:ext cx="1047900" cy="1047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20" name="Google Shape;520;p2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4762" y="4763"/>
                <a:ext cx="1047900" cy="1047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1" name="Google Shape;521;p2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14287" y="-14287"/>
                <a:ext cx="1066800" cy="1066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2" name="Google Shape;522;p21"/>
              <p:cNvSpPr/>
              <p:nvPr/>
            </p:nvSpPr>
            <p:spPr>
              <a:xfrm>
                <a:off x="390525" y="342900"/>
                <a:ext cx="76200" cy="76200"/>
              </a:xfrm>
              <a:prstGeom prst="ellipse">
                <a:avLst/>
              </a:prstGeom>
              <a:solidFill>
                <a:srgbClr val="CB46B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1"/>
              <p:cNvSpPr txBox="1"/>
              <p:nvPr/>
            </p:nvSpPr>
            <p:spPr>
              <a:xfrm>
                <a:off x="47625" y="1108710"/>
                <a:ext cx="370800" cy="1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0.0 (FPR)</a:t>
                </a:r>
                <a:endParaRPr b="0" sz="486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sp>
            <p:nvSpPr>
              <p:cNvPr id="524" name="Google Shape;524;p21"/>
              <p:cNvSpPr txBox="1"/>
              <p:nvPr/>
            </p:nvSpPr>
            <p:spPr>
              <a:xfrm>
                <a:off x="924135" y="1108710"/>
                <a:ext cx="123600" cy="1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1.0</a:t>
                </a:r>
                <a:endParaRPr b="0" sz="486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sp>
            <p:nvSpPr>
              <p:cNvPr id="525" name="Google Shape;525;p21"/>
              <p:cNvSpPr txBox="1"/>
              <p:nvPr/>
            </p:nvSpPr>
            <p:spPr>
              <a:xfrm>
                <a:off x="-171450" y="1013460"/>
                <a:ext cx="123600" cy="1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0.0</a:t>
                </a:r>
                <a:endParaRPr b="0" sz="486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sp>
            <p:nvSpPr>
              <p:cNvPr id="526" name="Google Shape;526;p21"/>
              <p:cNvSpPr txBox="1"/>
              <p:nvPr/>
            </p:nvSpPr>
            <p:spPr>
              <a:xfrm>
                <a:off x="-171450" y="41910"/>
                <a:ext cx="453300" cy="1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486">
                    <a:solidFill>
                      <a:srgbClr val="64748B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TPR (Sens.)</a:t>
                </a:r>
                <a:endParaRPr b="0" sz="486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527" name="Google Shape;527;p21"/>
            <p:cNvGrpSpPr/>
            <p:nvPr/>
          </p:nvGrpSpPr>
          <p:grpSpPr>
            <a:xfrm>
              <a:off x="1376363" y="709613"/>
              <a:ext cx="771600" cy="676200"/>
              <a:chOff x="-4762" y="-4762"/>
              <a:chExt cx="771600" cy="676200"/>
            </a:xfrm>
          </p:grpSpPr>
          <p:pic>
            <p:nvPicPr>
              <p:cNvPr id="528" name="Google Shape;528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771600" cy="676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9" name="Google Shape;529;p21"/>
              <p:cNvSpPr txBox="1"/>
              <p:nvPr/>
            </p:nvSpPr>
            <p:spPr>
              <a:xfrm>
                <a:off x="116110" y="167640"/>
                <a:ext cx="529800" cy="27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350">
                    <a:solidFill>
                      <a:srgbClr val="CB46B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0.932</a:t>
                </a:r>
                <a:endParaRPr b="1" sz="135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0" name="Google Shape;530;p21"/>
              <p:cNvSpPr txBox="1"/>
              <p:nvPr/>
            </p:nvSpPr>
            <p:spPr>
              <a:xfrm>
                <a:off x="132297" y="398145"/>
                <a:ext cx="497400" cy="1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451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ROC-AUC SCORE</a:t>
                </a:r>
                <a:endParaRPr b="1" sz="451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1" name="Google Shape;531;p21"/>
              <p:cNvSpPr txBox="1"/>
              <p:nvPr/>
            </p:nvSpPr>
            <p:spPr>
              <a:xfrm>
                <a:off x="57245" y="510540"/>
                <a:ext cx="647400" cy="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413">
                    <a:solidFill>
                      <a:srgbClr val="10B98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Excellent Discrimin.</a:t>
                </a:r>
                <a:endParaRPr b="0" sz="413">
                  <a:solidFill>
                    <a:srgbClr val="10B98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</p:grpSp>
        <p:grpSp>
          <p:nvGrpSpPr>
            <p:cNvPr id="532" name="Google Shape;532;p21"/>
            <p:cNvGrpSpPr/>
            <p:nvPr/>
          </p:nvGrpSpPr>
          <p:grpSpPr>
            <a:xfrm>
              <a:off x="142875" y="1809750"/>
              <a:ext cx="2000100" cy="952500"/>
              <a:chOff x="0" y="0"/>
              <a:chExt cx="2000100" cy="952500"/>
            </a:xfrm>
          </p:grpSpPr>
          <p:sp>
            <p:nvSpPr>
              <p:cNvPr id="533" name="Google Shape;533;p21"/>
              <p:cNvSpPr/>
              <p:nvPr/>
            </p:nvSpPr>
            <p:spPr>
              <a:xfrm>
                <a:off x="0" y="0"/>
                <a:ext cx="20001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FDF4FD"/>
              </a:solidFill>
              <a:ln cap="flat" cmpd="sng" w="9525">
                <a:solidFill>
                  <a:srgbClr val="F5D0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21"/>
              <p:cNvSpPr txBox="1"/>
              <p:nvPr/>
            </p:nvSpPr>
            <p:spPr>
              <a:xfrm>
                <a:off x="95250" y="76200"/>
                <a:ext cx="18096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20">
                    <a:solidFill>
                      <a:srgbClr val="CB46B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Discriminative Index:</a:t>
                </a:r>
                <a:br>
                  <a:rPr lang="en-GB" sz="72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</a:br>
                <a:endParaRPr sz="72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-GB" sz="720">
                    <a:solidFill>
                      <a:srgbClr val="47556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The score of 0.932 proves strong performance in isolating high-intent learners from passive profiles.</a:t>
                </a:r>
                <a:endParaRPr sz="72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535" name="Google Shape;535;p21"/>
          <p:cNvGrpSpPr/>
          <p:nvPr/>
        </p:nvGrpSpPr>
        <p:grpSpPr>
          <a:xfrm>
            <a:off x="571500" y="4048125"/>
            <a:ext cx="8001000" cy="523800"/>
            <a:chOff x="0" y="0"/>
            <a:chExt cx="8001000" cy="523800"/>
          </a:xfrm>
        </p:grpSpPr>
        <p:sp>
          <p:nvSpPr>
            <p:cNvPr id="536" name="Google Shape;536;p21"/>
            <p:cNvSpPr/>
            <p:nvPr/>
          </p:nvSpPr>
          <p:spPr>
            <a:xfrm>
              <a:off x="0" y="0"/>
              <a:ext cx="8001000" cy="523800"/>
            </a:xfrm>
            <a:prstGeom prst="roundRect">
              <a:avLst>
                <a:gd fmla="val 10909" name="adj"/>
              </a:avLst>
            </a:prstGeom>
            <a:solidFill>
              <a:srgbClr val="8619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1"/>
            <p:cNvSpPr txBox="1"/>
            <p:nvPr/>
          </p:nvSpPr>
          <p:spPr>
            <a:xfrm>
              <a:off x="190500" y="95250"/>
              <a:ext cx="7620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DF4FD"/>
                  </a:solidFill>
                  <a:latin typeface="Open Sans"/>
                  <a:ea typeface="Open Sans"/>
                  <a:cs typeface="Open Sans"/>
                  <a:sym typeface="Open Sans"/>
                </a:rPr>
                <a:t>Strategic Insight:</a:t>
              </a:r>
              <a:r>
                <a:rPr lang="en-GB" sz="8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The model is strongest when identifying opportunity-related drivers, while its high ROC-AUC demonstrates strong ability to distinguish likely participants from non-participants.</a:t>
              </a:r>
              <a:endParaRPr sz="8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3" name="Google Shape;543;p22"/>
          <p:cNvGrpSpPr/>
          <p:nvPr/>
        </p:nvGrpSpPr>
        <p:grpSpPr>
          <a:xfrm>
            <a:off x="571500" y="228600"/>
            <a:ext cx="8001000" cy="517663"/>
            <a:chOff x="571500" y="228600"/>
            <a:chExt cx="8001000" cy="517663"/>
          </a:xfrm>
        </p:grpSpPr>
        <p:sp>
          <p:nvSpPr>
            <p:cNvPr id="544" name="Google Shape;544;p22"/>
            <p:cNvSpPr txBox="1"/>
            <p:nvPr/>
          </p:nvSpPr>
          <p:spPr>
            <a:xfrm>
              <a:off x="571500" y="228600"/>
              <a:ext cx="8001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A1A1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Strategic Recommendations</a:t>
              </a:r>
              <a:endParaRPr sz="2400">
                <a:solidFill>
                  <a:srgbClr val="1A1A1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545" name="Google Shape;545;p22"/>
            <p:cNvSpPr txBox="1"/>
            <p:nvPr/>
          </p:nvSpPr>
          <p:spPr>
            <a:xfrm>
              <a:off x="571500" y="555763"/>
              <a:ext cx="800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Five evidence-based actions to improve participation, opportunity access, and </a:t>
              </a:r>
              <a:r>
                <a:rPr lang="en-GB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program</a:t>
              </a:r>
              <a:r>
                <a:rPr b="0" lang="en-GB" sz="11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effectiveness.</a:t>
              </a:r>
              <a:endParaRPr b="0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46" name="Google Shape;546;p22"/>
          <p:cNvGrpSpPr/>
          <p:nvPr/>
        </p:nvGrpSpPr>
        <p:grpSpPr>
          <a:xfrm>
            <a:off x="571500" y="895350"/>
            <a:ext cx="7944000" cy="2000100"/>
            <a:chOff x="571500" y="895350"/>
            <a:chExt cx="7944000" cy="2000100"/>
          </a:xfrm>
        </p:grpSpPr>
        <p:sp>
          <p:nvSpPr>
            <p:cNvPr id="547" name="Google Shape;547;p22"/>
            <p:cNvSpPr/>
            <p:nvPr/>
          </p:nvSpPr>
          <p:spPr>
            <a:xfrm>
              <a:off x="571500" y="895350"/>
              <a:ext cx="1467000" cy="2000100"/>
            </a:xfrm>
            <a:prstGeom prst="roundRect">
              <a:avLst>
                <a:gd fmla="val 519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571500" y="895350"/>
              <a:ext cx="14670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2"/>
            <p:cNvSpPr txBox="1"/>
            <p:nvPr/>
          </p:nvSpPr>
          <p:spPr>
            <a:xfrm>
              <a:off x="685800" y="1009650"/>
              <a:ext cx="1238400" cy="17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01</a:t>
              </a:r>
              <a:endParaRPr b="1" sz="1100">
                <a:solidFill>
                  <a:srgbClr val="CB46B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E2937"/>
                  </a:solidFill>
                  <a:latin typeface="Open Sans"/>
                  <a:ea typeface="Open Sans"/>
                  <a:cs typeface="Open Sans"/>
                  <a:sym typeface="Open Sans"/>
                </a:rPr>
                <a:t>Optimize Opportunity Mix</a:t>
              </a:r>
              <a:endParaRPr b="1" sz="900">
                <a:solidFill>
                  <a:srgbClr val="1E293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Prioritize high-demand opportunity design based on learner demand data.</a:t>
              </a:r>
              <a:endParaRPr sz="7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63.34%</a:t>
              </a:r>
              <a:endParaRPr b="1" sz="1400">
                <a:solidFill>
                  <a:srgbClr val="CB46B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Internship participation vs. 23.80% courses.</a:t>
              </a:r>
              <a:endParaRPr sz="7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550" name="Google Shape;550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66925" y="1790700"/>
              <a:ext cx="133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1" name="Google Shape;551;p22"/>
            <p:cNvSpPr/>
            <p:nvPr/>
          </p:nvSpPr>
          <p:spPr>
            <a:xfrm>
              <a:off x="2190750" y="895350"/>
              <a:ext cx="1467000" cy="2000100"/>
            </a:xfrm>
            <a:prstGeom prst="roundRect">
              <a:avLst>
                <a:gd fmla="val 5194" name="adj"/>
              </a:avLst>
            </a:prstGeom>
            <a:solidFill>
              <a:srgbClr val="FFFFFF"/>
            </a:solidFill>
            <a:ln cap="flat" cmpd="sng" w="14300">
              <a:solidFill>
                <a:srgbClr val="CB46B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2190750" y="895350"/>
              <a:ext cx="14670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2"/>
            <p:cNvSpPr txBox="1"/>
            <p:nvPr/>
          </p:nvSpPr>
          <p:spPr>
            <a:xfrm>
              <a:off x="2305050" y="1009650"/>
              <a:ext cx="1238400" cy="17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02</a:t>
              </a:r>
              <a:endParaRPr b="1" sz="1100">
                <a:solidFill>
                  <a:srgbClr val="CB46B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E2937"/>
                  </a:solidFill>
                  <a:latin typeface="Open Sans"/>
                  <a:ea typeface="Open Sans"/>
                  <a:cs typeface="Open Sans"/>
                  <a:sym typeface="Open Sans"/>
                </a:rPr>
                <a:t>Expand Opportunity Capacity</a:t>
              </a:r>
              <a:endParaRPr b="1" sz="900">
                <a:solidFill>
                  <a:srgbClr val="1E293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Address significant gap between demand and available internship spaces.</a:t>
              </a:r>
              <a:endParaRPr sz="7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65.84%</a:t>
              </a:r>
              <a:endParaRPr b="1" sz="1400">
                <a:solidFill>
                  <a:srgbClr val="CB46B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Rejected applicants with only 21.49% allocated.</a:t>
              </a:r>
              <a:endParaRPr sz="7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554" name="Google Shape;55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86175" y="1790700"/>
              <a:ext cx="133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5" name="Google Shape;555;p22"/>
            <p:cNvSpPr/>
            <p:nvPr/>
          </p:nvSpPr>
          <p:spPr>
            <a:xfrm>
              <a:off x="3810000" y="895350"/>
              <a:ext cx="1467000" cy="2000100"/>
            </a:xfrm>
            <a:prstGeom prst="roundRect">
              <a:avLst>
                <a:gd fmla="val 519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3810000" y="895350"/>
              <a:ext cx="14670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2"/>
            <p:cNvSpPr txBox="1"/>
            <p:nvPr/>
          </p:nvSpPr>
          <p:spPr>
            <a:xfrm>
              <a:off x="3924300" y="1009650"/>
              <a:ext cx="1238400" cy="17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03</a:t>
              </a:r>
              <a:endParaRPr b="1" sz="1100">
                <a:solidFill>
                  <a:srgbClr val="CB46B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E2937"/>
                  </a:solidFill>
                  <a:latin typeface="Open Sans"/>
                  <a:ea typeface="Open Sans"/>
                  <a:cs typeface="Open Sans"/>
                  <a:sym typeface="Open Sans"/>
                </a:rPr>
                <a:t>Target High-Potential Periods</a:t>
              </a:r>
              <a:endParaRPr b="1" sz="900">
                <a:solidFill>
                  <a:srgbClr val="1E293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Align key campaign outreach with proven historical peak months.</a:t>
              </a:r>
              <a:endParaRPr sz="7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46A3A"/>
                  </a:solidFill>
                  <a:latin typeface="Open Sans"/>
                  <a:ea typeface="Open Sans"/>
                  <a:cs typeface="Open Sans"/>
                  <a:sym typeface="Open Sans"/>
                </a:rPr>
                <a:t>Aug / Jan / Feb</a:t>
              </a:r>
              <a:endParaRPr b="1" sz="1400">
                <a:solidFill>
                  <a:srgbClr val="F46A3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Historically proven participation peak times.</a:t>
              </a:r>
              <a:endParaRPr sz="7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558" name="Google Shape;55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05425" y="1790700"/>
              <a:ext cx="133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22"/>
            <p:cNvSpPr/>
            <p:nvPr/>
          </p:nvSpPr>
          <p:spPr>
            <a:xfrm>
              <a:off x="5429250" y="895350"/>
              <a:ext cx="1467000" cy="2000100"/>
            </a:xfrm>
            <a:prstGeom prst="roundRect">
              <a:avLst>
                <a:gd fmla="val 519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5429250" y="895350"/>
              <a:ext cx="14670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2"/>
            <p:cNvSpPr txBox="1"/>
            <p:nvPr/>
          </p:nvSpPr>
          <p:spPr>
            <a:xfrm>
              <a:off x="5543550" y="1009650"/>
              <a:ext cx="1238400" cy="17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04</a:t>
              </a:r>
              <a:endParaRPr b="1" sz="1100">
                <a:solidFill>
                  <a:srgbClr val="CB46B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E2937"/>
                  </a:solidFill>
                  <a:latin typeface="Open Sans"/>
                  <a:ea typeface="Open Sans"/>
                  <a:cs typeface="Open Sans"/>
                  <a:sym typeface="Open Sans"/>
                </a:rPr>
                <a:t>Target New Markets</a:t>
              </a:r>
              <a:endParaRPr b="1" sz="900">
                <a:solidFill>
                  <a:srgbClr val="1E293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Broaden geographic reach to diversify current user distribution.</a:t>
              </a:r>
              <a:endParaRPr sz="7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88.48%</a:t>
              </a:r>
              <a:endParaRPr b="1" sz="1400">
                <a:solidFill>
                  <a:srgbClr val="CB46B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Concentrated in US, India, and Nigeria.</a:t>
              </a:r>
              <a:endParaRPr sz="7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562" name="Google Shape;562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24675" y="1790700"/>
              <a:ext cx="1335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22"/>
            <p:cNvSpPr/>
            <p:nvPr/>
          </p:nvSpPr>
          <p:spPr>
            <a:xfrm>
              <a:off x="7048500" y="895350"/>
              <a:ext cx="1467000" cy="2000100"/>
            </a:xfrm>
            <a:prstGeom prst="roundRect">
              <a:avLst>
                <a:gd fmla="val 519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7048500" y="895350"/>
              <a:ext cx="14670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2"/>
            <p:cNvSpPr txBox="1"/>
            <p:nvPr/>
          </p:nvSpPr>
          <p:spPr>
            <a:xfrm>
              <a:off x="7162800" y="1009650"/>
              <a:ext cx="1238400" cy="17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05</a:t>
              </a:r>
              <a:endParaRPr b="1" sz="1100">
                <a:solidFill>
                  <a:srgbClr val="CB46B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E2937"/>
                  </a:solidFill>
                  <a:latin typeface="Open Sans"/>
                  <a:ea typeface="Open Sans"/>
                  <a:cs typeface="Open Sans"/>
                  <a:sym typeface="Open Sans"/>
                </a:rPr>
                <a:t>Use Predictive Analytics</a:t>
              </a:r>
              <a:endParaRPr b="1" sz="900">
                <a:solidFill>
                  <a:srgbClr val="1E293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7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Forecast user behavior to enable proactive planning cycles.</a:t>
              </a:r>
              <a:endParaRPr sz="7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CB46B1"/>
                  </a:solidFill>
                  <a:latin typeface="Open Sans"/>
                  <a:ea typeface="Open Sans"/>
                  <a:cs typeface="Open Sans"/>
                  <a:sym typeface="Open Sans"/>
                </a:rPr>
                <a:t>86.04%</a:t>
              </a:r>
              <a:r>
                <a:rPr lang="en-GB"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b="1" lang="en-GB" sz="1200">
                  <a:solidFill>
                    <a:srgbClr val="F46A3A"/>
                  </a:solidFill>
                  <a:latin typeface="Open Sans"/>
                  <a:ea typeface="Open Sans"/>
                  <a:cs typeface="Open Sans"/>
                  <a:sym typeface="Open Sans"/>
                </a:rPr>
                <a:t>0.932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 accuracy and operational ROC-AUC score.</a:t>
              </a:r>
              <a:endParaRPr sz="7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66" name="Google Shape;566;p22"/>
          <p:cNvGrpSpPr/>
          <p:nvPr/>
        </p:nvGrpSpPr>
        <p:grpSpPr>
          <a:xfrm>
            <a:off x="571500" y="3095625"/>
            <a:ext cx="8001000" cy="1428900"/>
            <a:chOff x="571500" y="3095625"/>
            <a:chExt cx="8001000" cy="1428900"/>
          </a:xfrm>
        </p:grpSpPr>
        <p:sp>
          <p:nvSpPr>
            <p:cNvPr id="567" name="Google Shape;567;p22"/>
            <p:cNvSpPr/>
            <p:nvPr/>
          </p:nvSpPr>
          <p:spPr>
            <a:xfrm>
              <a:off x="571500" y="3095625"/>
              <a:ext cx="8001000" cy="1428900"/>
            </a:xfrm>
            <a:prstGeom prst="roundRect">
              <a:avLst>
                <a:gd fmla="val 5333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571500" y="3095625"/>
              <a:ext cx="8001000" cy="324000"/>
            </a:xfrm>
            <a:prstGeom prst="roundRect">
              <a:avLst>
                <a:gd fmla="val 8823" name="adj"/>
              </a:avLst>
            </a:prstGeom>
            <a:solidFill>
              <a:srgbClr val="8619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2"/>
            <p:cNvSpPr txBox="1"/>
            <p:nvPr/>
          </p:nvSpPr>
          <p:spPr>
            <a:xfrm>
              <a:off x="762000" y="3095625"/>
              <a:ext cx="7620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Expected Business Impact Flow</a:t>
              </a:r>
              <a:endParaRPr b="1" sz="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570" name="Google Shape;570;p22"/>
            <p:cNvGrpSpPr/>
            <p:nvPr/>
          </p:nvGrpSpPr>
          <p:grpSpPr>
            <a:xfrm>
              <a:off x="762000" y="3619500"/>
              <a:ext cx="7620000" cy="714300"/>
              <a:chOff x="762000" y="3619500"/>
              <a:chExt cx="7620000" cy="714300"/>
            </a:xfrm>
          </p:grpSpPr>
          <p:sp>
            <p:nvSpPr>
              <p:cNvPr id="571" name="Google Shape;571;p22"/>
              <p:cNvSpPr/>
              <p:nvPr/>
            </p:nvSpPr>
            <p:spPr>
              <a:xfrm>
                <a:off x="762000" y="3619500"/>
                <a:ext cx="12384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86198F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2"/>
              <p:cNvSpPr txBox="1"/>
              <p:nvPr/>
            </p:nvSpPr>
            <p:spPr>
              <a:xfrm>
                <a:off x="857250" y="3667125"/>
                <a:ext cx="10479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>
                    <a:solidFill>
                      <a:srgbClr val="FDF4FD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Better Opportunity Design</a:t>
                </a:r>
                <a:endParaRPr sz="750">
                  <a:solidFill>
                    <a:srgbClr val="FDF4FD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</p:txBody>
          </p:sp>
          <p:pic>
            <p:nvPicPr>
              <p:cNvPr id="573" name="Google Shape;573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057400" y="3938588"/>
                <a:ext cx="114300" cy="6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4" name="Google Shape;574;p22"/>
              <p:cNvSpPr/>
              <p:nvPr/>
            </p:nvSpPr>
            <p:spPr>
              <a:xfrm>
                <a:off x="2209800" y="3619500"/>
                <a:ext cx="12384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86198F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2"/>
              <p:cNvSpPr txBox="1"/>
              <p:nvPr/>
            </p:nvSpPr>
            <p:spPr>
              <a:xfrm>
                <a:off x="2305050" y="3667125"/>
                <a:ext cx="10479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>
                    <a:solidFill>
                      <a:srgbClr val="FDF4FD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Higher Access</a:t>
                </a:r>
                <a:endParaRPr sz="750">
                  <a:solidFill>
                    <a:srgbClr val="FDF4FD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</p:txBody>
          </p:sp>
          <p:pic>
            <p:nvPicPr>
              <p:cNvPr id="576" name="Google Shape;576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505200" y="3938588"/>
                <a:ext cx="114300" cy="6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7" name="Google Shape;577;p22"/>
              <p:cNvSpPr/>
              <p:nvPr/>
            </p:nvSpPr>
            <p:spPr>
              <a:xfrm>
                <a:off x="3657600" y="3619500"/>
                <a:ext cx="12384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86198F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2"/>
              <p:cNvSpPr txBox="1"/>
              <p:nvPr/>
            </p:nvSpPr>
            <p:spPr>
              <a:xfrm>
                <a:off x="3752850" y="3667125"/>
                <a:ext cx="10479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>
                    <a:solidFill>
                      <a:srgbClr val="FDF4FD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Targeted Engagement</a:t>
                </a:r>
                <a:endParaRPr sz="750">
                  <a:solidFill>
                    <a:srgbClr val="FDF4FD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</p:txBody>
          </p:sp>
          <p:pic>
            <p:nvPicPr>
              <p:cNvPr id="579" name="Google Shape;579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953000" y="3938588"/>
                <a:ext cx="114300" cy="6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0" name="Google Shape;580;p22"/>
              <p:cNvSpPr/>
              <p:nvPr/>
            </p:nvSpPr>
            <p:spPr>
              <a:xfrm>
                <a:off x="5105400" y="3619500"/>
                <a:ext cx="12384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86198F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2"/>
              <p:cNvSpPr txBox="1"/>
              <p:nvPr/>
            </p:nvSpPr>
            <p:spPr>
              <a:xfrm>
                <a:off x="5200650" y="3667125"/>
                <a:ext cx="10479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>
                    <a:solidFill>
                      <a:srgbClr val="FDF4FD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Improved Participation</a:t>
                </a:r>
                <a:endParaRPr sz="750">
                  <a:solidFill>
                    <a:srgbClr val="FDF4FD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</p:txBody>
          </p:sp>
          <p:pic>
            <p:nvPicPr>
              <p:cNvPr id="582" name="Google Shape;582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400800" y="3938588"/>
                <a:ext cx="114300" cy="66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3" name="Google Shape;583;p22"/>
              <p:cNvSpPr/>
              <p:nvPr/>
            </p:nvSpPr>
            <p:spPr>
              <a:xfrm>
                <a:off x="6553200" y="3619500"/>
                <a:ext cx="18288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86198F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2"/>
              <p:cNvSpPr txBox="1"/>
              <p:nvPr/>
            </p:nvSpPr>
            <p:spPr>
              <a:xfrm>
                <a:off x="6648450" y="3667125"/>
                <a:ext cx="1638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750">
                    <a:solidFill>
                      <a:srgbClr val="FDF4FD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Data-Driven Program Planning</a:t>
                </a:r>
                <a:endParaRPr sz="750">
                  <a:solidFill>
                    <a:srgbClr val="FDF4FD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3"/>
          <p:cNvSpPr txBox="1"/>
          <p:nvPr/>
        </p:nvSpPr>
        <p:spPr>
          <a:xfrm>
            <a:off x="571500" y="228600"/>
            <a:ext cx="800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A1A1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Success Measurement Framework</a:t>
            </a:r>
            <a:endParaRPr sz="2400">
              <a:solidFill>
                <a:srgbClr val="1A1A1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591" name="Google Shape;591;p23"/>
          <p:cNvSpPr txBox="1"/>
          <p:nvPr/>
        </p:nvSpPr>
        <p:spPr>
          <a:xfrm>
            <a:off x="571500" y="550517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Track participation, program outcomes, and predictive performance to continuously improve future cohorts.</a:t>
            </a:r>
            <a:endParaRPr sz="11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92" name="Google Shape;592;p23"/>
          <p:cNvGrpSpPr/>
          <p:nvPr/>
        </p:nvGrpSpPr>
        <p:grpSpPr>
          <a:xfrm>
            <a:off x="571500" y="809625"/>
            <a:ext cx="2524200" cy="1762200"/>
            <a:chOff x="571500" y="809625"/>
            <a:chExt cx="2524200" cy="1762200"/>
          </a:xfrm>
        </p:grpSpPr>
        <p:sp>
          <p:nvSpPr>
            <p:cNvPr id="593" name="Google Shape;593;p23"/>
            <p:cNvSpPr/>
            <p:nvPr/>
          </p:nvSpPr>
          <p:spPr>
            <a:xfrm>
              <a:off x="571500" y="809625"/>
              <a:ext cx="25242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571500" y="809625"/>
              <a:ext cx="25242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85800" y="923925"/>
              <a:ext cx="247800" cy="190500"/>
            </a:xfrm>
            <a:prstGeom prst="roundRect">
              <a:avLst>
                <a:gd fmla="val 2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3"/>
            <p:cNvSpPr txBox="1"/>
            <p:nvPr/>
          </p:nvSpPr>
          <p:spPr>
            <a:xfrm>
              <a:off x="685800" y="923925"/>
              <a:ext cx="247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FFFFFF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01</a:t>
              </a:r>
              <a:endParaRPr b="0" sz="12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sp>
          <p:nvSpPr>
            <p:cNvPr id="597" name="Google Shape;597;p23"/>
            <p:cNvSpPr txBox="1"/>
            <p:nvPr/>
          </p:nvSpPr>
          <p:spPr>
            <a:xfrm>
              <a:off x="1009650" y="92392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Participation</a:t>
              </a:r>
              <a:endParaRPr b="1" sz="1100">
                <a:solidFill>
                  <a:srgbClr val="CB46B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8" name="Google Shape;598;p23"/>
            <p:cNvSpPr txBox="1"/>
            <p:nvPr/>
          </p:nvSpPr>
          <p:spPr>
            <a:xfrm>
              <a:off x="685800" y="1209675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E2937"/>
                  </a:solidFill>
                  <a:latin typeface="Poppins"/>
                  <a:ea typeface="Poppins"/>
                  <a:cs typeface="Poppins"/>
                  <a:sym typeface="Poppins"/>
                </a:rPr>
                <a:t>Participation Rate</a:t>
              </a:r>
              <a:endParaRPr b="1" sz="850">
                <a:solidFill>
                  <a:srgbClr val="1E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Learner participation across opportunities</a:t>
              </a:r>
              <a:endParaRPr b="0" sz="7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9" name="Google Shape;599;p23"/>
            <p:cNvSpPr txBox="1"/>
            <p:nvPr/>
          </p:nvSpPr>
          <p:spPr>
            <a:xfrm>
              <a:off x="685800" y="163830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E2937"/>
                  </a:solidFill>
                  <a:latin typeface="Poppins"/>
                  <a:ea typeface="Poppins"/>
                  <a:cs typeface="Poppins"/>
                  <a:sym typeface="Poppins"/>
                </a:rPr>
                <a:t>Opportunity Fill Rate</a:t>
              </a:r>
              <a:endParaRPr b="1" sz="850">
                <a:solidFill>
                  <a:srgbClr val="1E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Demand versus available placements</a:t>
              </a:r>
              <a:endParaRPr b="0" sz="7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0" name="Google Shape;600;p23"/>
            <p:cNvSpPr txBox="1"/>
            <p:nvPr/>
          </p:nvSpPr>
          <p:spPr>
            <a:xfrm>
              <a:off x="685800" y="2066925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E2937"/>
                  </a:solidFill>
                  <a:latin typeface="Poppins"/>
                  <a:ea typeface="Poppins"/>
                  <a:cs typeface="Poppins"/>
                  <a:sym typeface="Poppins"/>
                </a:rPr>
                <a:t>Geographic Diversity</a:t>
              </a:r>
              <a:endParaRPr b="1" sz="850">
                <a:solidFill>
                  <a:srgbClr val="1E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Participation across countries and regions</a:t>
              </a:r>
              <a:endParaRPr b="0" sz="7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01" name="Google Shape;601;p23"/>
          <p:cNvGrpSpPr/>
          <p:nvPr/>
        </p:nvGrpSpPr>
        <p:grpSpPr>
          <a:xfrm>
            <a:off x="3305175" y="809625"/>
            <a:ext cx="2524200" cy="1762200"/>
            <a:chOff x="3305175" y="809625"/>
            <a:chExt cx="2524200" cy="1762200"/>
          </a:xfrm>
        </p:grpSpPr>
        <p:sp>
          <p:nvSpPr>
            <p:cNvPr id="602" name="Google Shape;602;p23"/>
            <p:cNvSpPr/>
            <p:nvPr/>
          </p:nvSpPr>
          <p:spPr>
            <a:xfrm>
              <a:off x="3305175" y="809625"/>
              <a:ext cx="25242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3305175" y="809625"/>
              <a:ext cx="25242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3419475" y="923925"/>
              <a:ext cx="247800" cy="190500"/>
            </a:xfrm>
            <a:prstGeom prst="roundRect">
              <a:avLst>
                <a:gd fmla="val 2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3"/>
            <p:cNvSpPr txBox="1"/>
            <p:nvPr/>
          </p:nvSpPr>
          <p:spPr>
            <a:xfrm>
              <a:off x="3419475" y="923925"/>
              <a:ext cx="247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FFFFFF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02</a:t>
              </a:r>
              <a:endParaRPr b="0" sz="12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sp>
          <p:nvSpPr>
            <p:cNvPr id="606" name="Google Shape;606;p23"/>
            <p:cNvSpPr txBox="1"/>
            <p:nvPr/>
          </p:nvSpPr>
          <p:spPr>
            <a:xfrm>
              <a:off x="3743325" y="92392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Program Outcomes</a:t>
              </a:r>
              <a:endParaRPr b="1" sz="1100">
                <a:solidFill>
                  <a:srgbClr val="CB46B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7" name="Google Shape;607;p23"/>
            <p:cNvSpPr txBox="1"/>
            <p:nvPr/>
          </p:nvSpPr>
          <p:spPr>
            <a:xfrm>
              <a:off x="3419475" y="1209675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E2937"/>
                  </a:solidFill>
                  <a:latin typeface="Poppins"/>
                  <a:ea typeface="Poppins"/>
                  <a:cs typeface="Poppins"/>
                  <a:sym typeface="Poppins"/>
                </a:rPr>
                <a:t>Completion Rate</a:t>
              </a:r>
              <a:endParaRPr b="1" sz="850">
                <a:solidFill>
                  <a:srgbClr val="1E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Learners progressing through opportunities</a:t>
              </a:r>
              <a:endParaRPr b="0" sz="7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8" name="Google Shape;608;p23"/>
            <p:cNvSpPr txBox="1"/>
            <p:nvPr/>
          </p:nvSpPr>
          <p:spPr>
            <a:xfrm>
              <a:off x="3419475" y="163830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E2937"/>
                  </a:solidFill>
                  <a:latin typeface="Poppins"/>
                  <a:ea typeface="Poppins"/>
                  <a:cs typeface="Poppins"/>
                  <a:sym typeface="Poppins"/>
                </a:rPr>
                <a:t>Repeat Participation</a:t>
              </a:r>
              <a:endParaRPr b="1" sz="850">
                <a:solidFill>
                  <a:srgbClr val="1E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Learners returning for additional opportunities</a:t>
              </a:r>
              <a:endParaRPr b="0" sz="7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9" name="Google Shape;609;p23"/>
            <p:cNvSpPr txBox="1"/>
            <p:nvPr/>
          </p:nvSpPr>
          <p:spPr>
            <a:xfrm>
              <a:off x="3419475" y="2066925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E2937"/>
                  </a:solidFill>
                  <a:latin typeface="Poppins"/>
                  <a:ea typeface="Poppins"/>
                  <a:cs typeface="Poppins"/>
                  <a:sym typeface="Poppins"/>
                </a:rPr>
                <a:t>Application Outcomes</a:t>
              </a:r>
              <a:endParaRPr b="1" sz="850">
                <a:solidFill>
                  <a:srgbClr val="1E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Allocation, rejection and dropout patterns</a:t>
              </a:r>
              <a:endParaRPr b="0" sz="7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10" name="Google Shape;610;p23"/>
          <p:cNvGrpSpPr/>
          <p:nvPr/>
        </p:nvGrpSpPr>
        <p:grpSpPr>
          <a:xfrm>
            <a:off x="6048375" y="809625"/>
            <a:ext cx="2524200" cy="1762200"/>
            <a:chOff x="6048375" y="809625"/>
            <a:chExt cx="2524200" cy="1762200"/>
          </a:xfrm>
        </p:grpSpPr>
        <p:sp>
          <p:nvSpPr>
            <p:cNvPr id="611" name="Google Shape;611;p23"/>
            <p:cNvSpPr/>
            <p:nvPr/>
          </p:nvSpPr>
          <p:spPr>
            <a:xfrm>
              <a:off x="6048375" y="809625"/>
              <a:ext cx="25242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48375" y="809625"/>
              <a:ext cx="2524200" cy="38100"/>
            </a:xfrm>
            <a:prstGeom prst="roundRect">
              <a:avLst>
                <a:gd fmla="val 5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162675" y="923925"/>
              <a:ext cx="247800" cy="190500"/>
            </a:xfrm>
            <a:prstGeom prst="roundRect">
              <a:avLst>
                <a:gd fmla="val 20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3"/>
            <p:cNvSpPr txBox="1"/>
            <p:nvPr/>
          </p:nvSpPr>
          <p:spPr>
            <a:xfrm>
              <a:off x="6162675" y="923925"/>
              <a:ext cx="247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FFFFFF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03</a:t>
              </a:r>
              <a:endParaRPr b="0" sz="12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sp>
          <p:nvSpPr>
            <p:cNvPr id="615" name="Google Shape;615;p23"/>
            <p:cNvSpPr txBox="1"/>
            <p:nvPr/>
          </p:nvSpPr>
          <p:spPr>
            <a:xfrm>
              <a:off x="6486525" y="92392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Predictive Performance</a:t>
              </a:r>
              <a:endParaRPr b="1" sz="1100">
                <a:solidFill>
                  <a:srgbClr val="CB46B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6" name="Google Shape;616;p23"/>
            <p:cNvSpPr txBox="1"/>
            <p:nvPr/>
          </p:nvSpPr>
          <p:spPr>
            <a:xfrm>
              <a:off x="6162675" y="1209675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E2937"/>
                  </a:solidFill>
                  <a:latin typeface="Poppins"/>
                  <a:ea typeface="Poppins"/>
                  <a:cs typeface="Poppins"/>
                  <a:sym typeface="Poppins"/>
                </a:rPr>
                <a:t>Prediction Accuracy</a:t>
              </a:r>
              <a:endParaRPr b="1" sz="850">
                <a:solidFill>
                  <a:srgbClr val="1E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Monitor model accuracy over time</a:t>
              </a:r>
              <a:endParaRPr b="0" sz="7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7" name="Google Shape;617;p23"/>
            <p:cNvSpPr txBox="1"/>
            <p:nvPr/>
          </p:nvSpPr>
          <p:spPr>
            <a:xfrm>
              <a:off x="6162675" y="163830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E2937"/>
                  </a:solidFill>
                  <a:latin typeface="Poppins"/>
                  <a:ea typeface="Poppins"/>
                  <a:cs typeface="Poppins"/>
                  <a:sym typeface="Poppins"/>
                </a:rPr>
                <a:t>ROC-AUC</a:t>
              </a:r>
              <a:endParaRPr b="1" sz="850">
                <a:solidFill>
                  <a:srgbClr val="1E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Track classification quality</a:t>
              </a:r>
              <a:endParaRPr b="0" sz="7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8" name="Google Shape;618;p23"/>
            <p:cNvSpPr txBox="1"/>
            <p:nvPr/>
          </p:nvSpPr>
          <p:spPr>
            <a:xfrm>
              <a:off x="6162675" y="2066925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1E2937"/>
                  </a:solidFill>
                  <a:latin typeface="Poppins"/>
                  <a:ea typeface="Poppins"/>
                  <a:cs typeface="Poppins"/>
                  <a:sym typeface="Poppins"/>
                </a:rPr>
                <a:t>Feature Stability</a:t>
              </a:r>
              <a:endParaRPr b="1" sz="850">
                <a:solidFill>
                  <a:srgbClr val="1E293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Monitor driver stability across cohorts</a:t>
              </a:r>
              <a:endParaRPr b="0" sz="7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19" name="Google Shape;619;p23"/>
          <p:cNvGrpSpPr/>
          <p:nvPr/>
        </p:nvGrpSpPr>
        <p:grpSpPr>
          <a:xfrm>
            <a:off x="571500" y="2714625"/>
            <a:ext cx="8001000" cy="400200"/>
            <a:chOff x="571500" y="2714625"/>
            <a:chExt cx="8001000" cy="400200"/>
          </a:xfrm>
        </p:grpSpPr>
        <p:sp>
          <p:nvSpPr>
            <p:cNvPr id="620" name="Google Shape;620;p23"/>
            <p:cNvSpPr/>
            <p:nvPr/>
          </p:nvSpPr>
          <p:spPr>
            <a:xfrm>
              <a:off x="571500" y="2714625"/>
              <a:ext cx="8001000" cy="400200"/>
            </a:xfrm>
            <a:prstGeom prst="roundRect">
              <a:avLst>
                <a:gd fmla="val 14285" name="adj"/>
              </a:avLst>
            </a:prstGeom>
            <a:solidFill>
              <a:srgbClr val="FDF4FD"/>
            </a:solidFill>
            <a:ln cap="flat" cmpd="sng" w="9525">
              <a:solidFill>
                <a:srgbClr val="F5D0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1" name="Google Shape;621;p23"/>
            <p:cNvCxnSpPr/>
            <p:nvPr/>
          </p:nvCxnSpPr>
          <p:spPr>
            <a:xfrm>
              <a:off x="1857375" y="2790825"/>
              <a:ext cx="0" cy="247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5D0F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2" name="Google Shape;622;p23"/>
            <p:cNvCxnSpPr/>
            <p:nvPr/>
          </p:nvCxnSpPr>
          <p:spPr>
            <a:xfrm>
              <a:off x="3000375" y="2790825"/>
              <a:ext cx="0" cy="247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5D0F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3" name="Google Shape;623;p23"/>
            <p:cNvCxnSpPr/>
            <p:nvPr/>
          </p:nvCxnSpPr>
          <p:spPr>
            <a:xfrm>
              <a:off x="4429125" y="2790825"/>
              <a:ext cx="0" cy="247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5D0F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4" name="Google Shape;624;p23"/>
            <p:cNvCxnSpPr/>
            <p:nvPr/>
          </p:nvCxnSpPr>
          <p:spPr>
            <a:xfrm>
              <a:off x="5762625" y="2790825"/>
              <a:ext cx="0" cy="247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5D0F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23"/>
            <p:cNvCxnSpPr/>
            <p:nvPr/>
          </p:nvCxnSpPr>
          <p:spPr>
            <a:xfrm>
              <a:off x="7191375" y="2790825"/>
              <a:ext cx="0" cy="247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5D0F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6" name="Google Shape;626;p23"/>
            <p:cNvSpPr txBox="1"/>
            <p:nvPr/>
          </p:nvSpPr>
          <p:spPr>
            <a:xfrm>
              <a:off x="619125" y="2733675"/>
              <a:ext cx="11907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8,558</a:t>
              </a:r>
              <a:br>
                <a:rPr lang="en-GB"/>
              </a:br>
              <a:r>
                <a:rPr b="0" lang="en-GB" sz="6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PARTICIPATION RECORDS</a:t>
              </a:r>
              <a:endParaRPr/>
            </a:p>
          </p:txBody>
        </p:sp>
        <p:sp>
          <p:nvSpPr>
            <p:cNvPr id="627" name="Google Shape;627;p23"/>
            <p:cNvSpPr txBox="1"/>
            <p:nvPr/>
          </p:nvSpPr>
          <p:spPr>
            <a:xfrm>
              <a:off x="1905000" y="2733675"/>
              <a:ext cx="1047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70</a:t>
              </a:r>
              <a:br>
                <a:rPr lang="en-GB"/>
              </a:br>
              <a:r>
                <a:rPr b="0" lang="en-GB" sz="6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COUNTRIES</a:t>
              </a:r>
              <a:endParaRPr/>
            </a:p>
          </p:txBody>
        </p:sp>
        <p:sp>
          <p:nvSpPr>
            <p:cNvPr id="628" name="Google Shape;628;p23"/>
            <p:cNvSpPr txBox="1"/>
            <p:nvPr/>
          </p:nvSpPr>
          <p:spPr>
            <a:xfrm>
              <a:off x="3048000" y="2733675"/>
              <a:ext cx="1333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63.34%</a:t>
              </a:r>
              <a:br>
                <a:rPr lang="en-GB"/>
              </a:br>
              <a:r>
                <a:rPr b="0" lang="en-GB" sz="6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INTERNSHIP PARTICIPATION</a:t>
              </a:r>
              <a:endParaRPr/>
            </a:p>
          </p:txBody>
        </p:sp>
        <p:sp>
          <p:nvSpPr>
            <p:cNvPr id="629" name="Google Shape;629;p23"/>
            <p:cNvSpPr txBox="1"/>
            <p:nvPr/>
          </p:nvSpPr>
          <p:spPr>
            <a:xfrm>
              <a:off x="4476750" y="2733675"/>
              <a:ext cx="12384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65.84%</a:t>
              </a:r>
              <a:br>
                <a:rPr lang="en-GB"/>
              </a:br>
              <a:r>
                <a:rPr b="0" lang="en-GB" sz="6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INTERNSHIP REJECTION</a:t>
              </a:r>
              <a:endParaRPr/>
            </a:p>
          </p:txBody>
        </p:sp>
        <p:sp>
          <p:nvSpPr>
            <p:cNvPr id="630" name="Google Shape;630;p23"/>
            <p:cNvSpPr txBox="1"/>
            <p:nvPr/>
          </p:nvSpPr>
          <p:spPr>
            <a:xfrm>
              <a:off x="5810250" y="2733675"/>
              <a:ext cx="1333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86.04%</a:t>
              </a:r>
              <a:br>
                <a:rPr lang="en-GB"/>
              </a:br>
              <a:r>
                <a:rPr b="0" lang="en-GB" sz="6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RANDOM FOREST ACCURACY</a:t>
              </a:r>
              <a:endParaRPr/>
            </a:p>
          </p:txBody>
        </p:sp>
        <p:sp>
          <p:nvSpPr>
            <p:cNvPr id="631" name="Google Shape;631;p23"/>
            <p:cNvSpPr txBox="1"/>
            <p:nvPr/>
          </p:nvSpPr>
          <p:spPr>
            <a:xfrm>
              <a:off x="7239000" y="2733675"/>
              <a:ext cx="12858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CB46B1"/>
                  </a:solidFill>
                  <a:latin typeface="Poppins"/>
                  <a:ea typeface="Poppins"/>
                  <a:cs typeface="Poppins"/>
                  <a:sym typeface="Poppins"/>
                </a:rPr>
                <a:t>0.932</a:t>
              </a:r>
              <a:br>
                <a:rPr lang="en-GB"/>
              </a:br>
              <a:r>
                <a:rPr b="0" lang="en-GB" sz="6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ROC-AUC SCORE</a:t>
              </a:r>
              <a:endParaRPr/>
            </a:p>
          </p:txBody>
        </p:sp>
      </p:grpSp>
      <p:grpSp>
        <p:nvGrpSpPr>
          <p:cNvPr id="632" name="Google Shape;632;p23"/>
          <p:cNvGrpSpPr/>
          <p:nvPr/>
        </p:nvGrpSpPr>
        <p:grpSpPr>
          <a:xfrm>
            <a:off x="571500" y="3238500"/>
            <a:ext cx="8001000" cy="324000"/>
            <a:chOff x="571500" y="3238500"/>
            <a:chExt cx="8001000" cy="324000"/>
          </a:xfrm>
        </p:grpSpPr>
        <p:sp>
          <p:nvSpPr>
            <p:cNvPr id="633" name="Google Shape;633;p23"/>
            <p:cNvSpPr/>
            <p:nvPr/>
          </p:nvSpPr>
          <p:spPr>
            <a:xfrm>
              <a:off x="571500" y="3238500"/>
              <a:ext cx="8001000" cy="324000"/>
            </a:xfrm>
            <a:prstGeom prst="roundRect">
              <a:avLst>
                <a:gd fmla="val 17647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3"/>
            <p:cNvSpPr/>
            <p:nvPr/>
          </p:nvSpPr>
          <p:spPr>
            <a:xfrm>
              <a:off x="666750" y="3305175"/>
              <a:ext cx="1285800" cy="190500"/>
            </a:xfrm>
            <a:prstGeom prst="roundRect">
              <a:avLst>
                <a:gd fmla="val 15000" name="adj"/>
              </a:avLst>
            </a:prstGeom>
            <a:solidFill>
              <a:srgbClr val="8619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3"/>
            <p:cNvSpPr txBox="1"/>
            <p:nvPr/>
          </p:nvSpPr>
          <p:spPr>
            <a:xfrm>
              <a:off x="666750" y="3305175"/>
              <a:ext cx="1285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CONTINUOUS IMPROVEMENT</a:t>
              </a:r>
              <a:endParaRPr b="1" sz="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636" name="Google Shape;636;p23"/>
            <p:cNvGrpSpPr/>
            <p:nvPr/>
          </p:nvGrpSpPr>
          <p:grpSpPr>
            <a:xfrm>
              <a:off x="2047875" y="3305175"/>
              <a:ext cx="1000275" cy="190500"/>
              <a:chOff x="2047875" y="3305175"/>
              <a:chExt cx="1000275" cy="190500"/>
            </a:xfrm>
          </p:grpSpPr>
          <p:sp>
            <p:nvSpPr>
              <p:cNvPr id="637" name="Google Shape;637;p23"/>
              <p:cNvSpPr/>
              <p:nvPr/>
            </p:nvSpPr>
            <p:spPr>
              <a:xfrm>
                <a:off x="2047875" y="3305175"/>
                <a:ext cx="857400" cy="1905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46B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23"/>
              <p:cNvSpPr txBox="1"/>
              <p:nvPr/>
            </p:nvSpPr>
            <p:spPr>
              <a:xfrm>
                <a:off x="2047875" y="3305175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86198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Measure</a:t>
                </a:r>
                <a:endParaRPr b="1" sz="700">
                  <a:solidFill>
                    <a:srgbClr val="8619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39" name="Google Shape;639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52750" y="3390900"/>
                <a:ext cx="954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0" name="Google Shape;640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00375" y="3362325"/>
                <a:ext cx="477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41" name="Google Shape;641;p23"/>
            <p:cNvGrpSpPr/>
            <p:nvPr/>
          </p:nvGrpSpPr>
          <p:grpSpPr>
            <a:xfrm>
              <a:off x="3095625" y="3305175"/>
              <a:ext cx="1000275" cy="190500"/>
              <a:chOff x="3095625" y="3305175"/>
              <a:chExt cx="1000275" cy="190500"/>
            </a:xfrm>
          </p:grpSpPr>
          <p:sp>
            <p:nvSpPr>
              <p:cNvPr id="642" name="Google Shape;642;p23"/>
              <p:cNvSpPr/>
              <p:nvPr/>
            </p:nvSpPr>
            <p:spPr>
              <a:xfrm>
                <a:off x="3095625" y="3305175"/>
                <a:ext cx="857400" cy="1905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46B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23"/>
              <p:cNvSpPr txBox="1"/>
              <p:nvPr/>
            </p:nvSpPr>
            <p:spPr>
              <a:xfrm>
                <a:off x="3095625" y="3305175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86198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Analyze</a:t>
                </a:r>
                <a:endParaRPr b="1" sz="700">
                  <a:solidFill>
                    <a:srgbClr val="8619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44" name="Google Shape;644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000500" y="3390900"/>
                <a:ext cx="954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5" name="Google Shape;645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8125" y="3362325"/>
                <a:ext cx="477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46" name="Google Shape;646;p23"/>
            <p:cNvGrpSpPr/>
            <p:nvPr/>
          </p:nvGrpSpPr>
          <p:grpSpPr>
            <a:xfrm>
              <a:off x="4143375" y="3305175"/>
              <a:ext cx="1000275" cy="190500"/>
              <a:chOff x="4143375" y="3305175"/>
              <a:chExt cx="1000275" cy="190500"/>
            </a:xfrm>
          </p:grpSpPr>
          <p:sp>
            <p:nvSpPr>
              <p:cNvPr id="647" name="Google Shape;647;p23"/>
              <p:cNvSpPr/>
              <p:nvPr/>
            </p:nvSpPr>
            <p:spPr>
              <a:xfrm>
                <a:off x="4143375" y="3305175"/>
                <a:ext cx="857400" cy="1905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46B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23"/>
              <p:cNvSpPr txBox="1"/>
              <p:nvPr/>
            </p:nvSpPr>
            <p:spPr>
              <a:xfrm>
                <a:off x="4143375" y="3305175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86198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Act</a:t>
                </a:r>
                <a:endParaRPr b="1" sz="700">
                  <a:solidFill>
                    <a:srgbClr val="8619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49" name="Google Shape;649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048250" y="3390900"/>
                <a:ext cx="954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0" name="Google Shape;650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095875" y="3362325"/>
                <a:ext cx="477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51" name="Google Shape;651;p23"/>
            <p:cNvGrpSpPr/>
            <p:nvPr/>
          </p:nvGrpSpPr>
          <p:grpSpPr>
            <a:xfrm>
              <a:off x="5191125" y="3305175"/>
              <a:ext cx="1000275" cy="190500"/>
              <a:chOff x="5191125" y="3305175"/>
              <a:chExt cx="1000275" cy="190500"/>
            </a:xfrm>
          </p:grpSpPr>
          <p:sp>
            <p:nvSpPr>
              <p:cNvPr id="652" name="Google Shape;652;p23"/>
              <p:cNvSpPr/>
              <p:nvPr/>
            </p:nvSpPr>
            <p:spPr>
              <a:xfrm>
                <a:off x="5191125" y="3305175"/>
                <a:ext cx="857400" cy="1905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46B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23"/>
              <p:cNvSpPr txBox="1"/>
              <p:nvPr/>
            </p:nvSpPr>
            <p:spPr>
              <a:xfrm>
                <a:off x="5191125" y="3305175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86198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Monitor</a:t>
                </a:r>
                <a:endParaRPr b="1" sz="700">
                  <a:solidFill>
                    <a:srgbClr val="8619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54" name="Google Shape;654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096000" y="3390900"/>
                <a:ext cx="954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5" name="Google Shape;655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143625" y="3362325"/>
                <a:ext cx="477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56" name="Google Shape;656;p23"/>
            <p:cNvGrpSpPr/>
            <p:nvPr/>
          </p:nvGrpSpPr>
          <p:grpSpPr>
            <a:xfrm>
              <a:off x="6238875" y="3305175"/>
              <a:ext cx="1000275" cy="190500"/>
              <a:chOff x="6238875" y="3305175"/>
              <a:chExt cx="1000275" cy="190500"/>
            </a:xfrm>
          </p:grpSpPr>
          <p:sp>
            <p:nvSpPr>
              <p:cNvPr id="657" name="Google Shape;657;p23"/>
              <p:cNvSpPr/>
              <p:nvPr/>
            </p:nvSpPr>
            <p:spPr>
              <a:xfrm>
                <a:off x="6238875" y="3305175"/>
                <a:ext cx="857400" cy="1905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46B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23"/>
              <p:cNvSpPr txBox="1"/>
              <p:nvPr/>
            </p:nvSpPr>
            <p:spPr>
              <a:xfrm>
                <a:off x="6238875" y="3305175"/>
                <a:ext cx="857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86198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Refine</a:t>
                </a:r>
                <a:endParaRPr b="1" sz="700">
                  <a:solidFill>
                    <a:srgbClr val="8619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59" name="Google Shape;659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143750" y="3390900"/>
                <a:ext cx="954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0" name="Google Shape;660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191375" y="3362325"/>
                <a:ext cx="477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61" name="Google Shape;661;p23"/>
            <p:cNvGrpSpPr/>
            <p:nvPr/>
          </p:nvGrpSpPr>
          <p:grpSpPr>
            <a:xfrm>
              <a:off x="7286625" y="3305175"/>
              <a:ext cx="1190700" cy="190500"/>
              <a:chOff x="7286625" y="3305175"/>
              <a:chExt cx="1190700" cy="190500"/>
            </a:xfrm>
          </p:grpSpPr>
          <p:sp>
            <p:nvSpPr>
              <p:cNvPr id="662" name="Google Shape;662;p23"/>
              <p:cNvSpPr/>
              <p:nvPr/>
            </p:nvSpPr>
            <p:spPr>
              <a:xfrm>
                <a:off x="7286625" y="3305175"/>
                <a:ext cx="1190700" cy="1905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46B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3"/>
              <p:cNvSpPr txBox="1"/>
              <p:nvPr/>
            </p:nvSpPr>
            <p:spPr>
              <a:xfrm>
                <a:off x="7286625" y="3305175"/>
                <a:ext cx="1190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700">
                    <a:solidFill>
                      <a:srgbClr val="86198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Measure Again</a:t>
                </a:r>
                <a:endParaRPr b="1" sz="700">
                  <a:solidFill>
                    <a:srgbClr val="8619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664" name="Google Shape;664;p23"/>
          <p:cNvGrpSpPr/>
          <p:nvPr/>
        </p:nvGrpSpPr>
        <p:grpSpPr>
          <a:xfrm>
            <a:off x="571500" y="3686175"/>
            <a:ext cx="8001000" cy="838200"/>
            <a:chOff x="571500" y="3686175"/>
            <a:chExt cx="8001000" cy="838200"/>
          </a:xfrm>
        </p:grpSpPr>
        <p:sp>
          <p:nvSpPr>
            <p:cNvPr id="665" name="Google Shape;665;p23"/>
            <p:cNvSpPr/>
            <p:nvPr/>
          </p:nvSpPr>
          <p:spPr>
            <a:xfrm>
              <a:off x="571500" y="3686175"/>
              <a:ext cx="8001000" cy="838200"/>
            </a:xfrm>
            <a:prstGeom prst="roundRect">
              <a:avLst>
                <a:gd fmla="val 909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3"/>
            <p:cNvSpPr/>
            <p:nvPr/>
          </p:nvSpPr>
          <p:spPr>
            <a:xfrm>
              <a:off x="571500" y="3686175"/>
              <a:ext cx="8001000" cy="228600"/>
            </a:xfrm>
            <a:prstGeom prst="roundRect">
              <a:avLst>
                <a:gd fmla="val 8333" name="adj"/>
              </a:avLst>
            </a:prstGeom>
            <a:solidFill>
              <a:srgbClr val="8619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3"/>
            <p:cNvSpPr txBox="1"/>
            <p:nvPr/>
          </p:nvSpPr>
          <p:spPr>
            <a:xfrm>
              <a:off x="762000" y="3686175"/>
              <a:ext cx="762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Strategic Alignment &amp; Dynamic Insight</a:t>
              </a:r>
              <a:endParaRPr b="1" sz="8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8" name="Google Shape;668;p23"/>
            <p:cNvSpPr txBox="1"/>
            <p:nvPr/>
          </p:nvSpPr>
          <p:spPr>
            <a:xfrm>
              <a:off x="762000" y="3971925"/>
              <a:ext cx="762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DF4FD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Success should be measured not only by participation volume, but by access, progression, diversity, and the sustained accuracy of predictive decision-making.</a:t>
              </a:r>
              <a:endParaRPr b="0" sz="1050">
                <a:solidFill>
                  <a:srgbClr val="FDF4FD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4"/>
          <p:cNvSpPr txBox="1"/>
          <p:nvPr/>
        </p:nvSpPr>
        <p:spPr>
          <a:xfrm>
            <a:off x="571500" y="228600"/>
            <a:ext cx="800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A1A1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Executive Summary &amp; Business Impact</a:t>
            </a:r>
            <a:endParaRPr sz="2400">
              <a:solidFill>
                <a:srgbClr val="1A1A1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675" name="Google Shape;675;p24"/>
          <p:cNvSpPr txBox="1"/>
          <p:nvPr/>
        </p:nvSpPr>
        <p:spPr>
          <a:xfrm>
            <a:off x="571500" y="550517"/>
            <a:ext cx="800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From historical participation patterns to predictive, data-driven program decisions.</a:t>
            </a:r>
            <a:endParaRPr sz="11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76" name="Google Shape;676;p24"/>
          <p:cNvGrpSpPr/>
          <p:nvPr/>
        </p:nvGrpSpPr>
        <p:grpSpPr>
          <a:xfrm>
            <a:off x="571500" y="809625"/>
            <a:ext cx="1866900" cy="1895475"/>
            <a:chOff x="571500" y="809625"/>
            <a:chExt cx="1866900" cy="1895475"/>
          </a:xfrm>
        </p:grpSpPr>
        <p:sp>
          <p:nvSpPr>
            <p:cNvPr id="677" name="Google Shape;677;p24"/>
            <p:cNvSpPr/>
            <p:nvPr/>
          </p:nvSpPr>
          <p:spPr>
            <a:xfrm>
              <a:off x="571500" y="809625"/>
              <a:ext cx="1714500" cy="400200"/>
            </a:xfrm>
            <a:prstGeom prst="roundRect">
              <a:avLst>
                <a:gd fmla="val 14285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4"/>
            <p:cNvSpPr txBox="1"/>
            <p:nvPr/>
          </p:nvSpPr>
          <p:spPr>
            <a:xfrm>
              <a:off x="619125" y="828675"/>
              <a:ext cx="1619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1. Understand</a:t>
              </a:r>
              <a:endParaRPr b="1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FDF4FD"/>
                  </a:solidFill>
                  <a:latin typeface="Open Sans"/>
                  <a:ea typeface="Open Sans"/>
                  <a:cs typeface="Open Sans"/>
                  <a:sym typeface="Open Sans"/>
                </a:rPr>
                <a:t>Historical participation patterns</a:t>
              </a:r>
              <a:endParaRPr sz="700">
                <a:solidFill>
                  <a:srgbClr val="FDF4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571500" y="1257300"/>
              <a:ext cx="1714500" cy="1447800"/>
            </a:xfrm>
            <a:prstGeom prst="roundRect">
              <a:avLst>
                <a:gd fmla="val 394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4"/>
            <p:cNvSpPr txBox="1"/>
            <p:nvPr/>
          </p:nvSpPr>
          <p:spPr>
            <a:xfrm>
              <a:off x="619125" y="1352550"/>
              <a:ext cx="16191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rgbClr val="CB46B1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63.34%</a:t>
              </a:r>
              <a:endParaRPr sz="1300">
                <a:solidFill>
                  <a:srgbClr val="CB46B1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INTERNSHIPS RECORDED</a:t>
              </a:r>
              <a:endParaRPr sz="650">
                <a:solidFill>
                  <a:srgbClr val="475569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681" name="Google Shape;681;p24"/>
            <p:cNvSpPr txBox="1"/>
            <p:nvPr/>
          </p:nvSpPr>
          <p:spPr>
            <a:xfrm>
              <a:off x="619125" y="1857375"/>
              <a:ext cx="16191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rgbClr val="CB46B1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88.48%</a:t>
              </a:r>
              <a:endParaRPr sz="1300">
                <a:solidFill>
                  <a:srgbClr val="CB46B1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US, INDIA &amp; NIGERIA</a:t>
              </a:r>
              <a:endParaRPr sz="650">
                <a:solidFill>
                  <a:srgbClr val="475569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pic>
          <p:nvPicPr>
            <p:cNvPr id="682" name="Google Shape;682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24100" y="962025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3" name="Google Shape;683;p24"/>
          <p:cNvGrpSpPr/>
          <p:nvPr/>
        </p:nvGrpSpPr>
        <p:grpSpPr>
          <a:xfrm>
            <a:off x="2571750" y="809625"/>
            <a:ext cx="1866900" cy="1895475"/>
            <a:chOff x="2571750" y="809625"/>
            <a:chExt cx="1866900" cy="1895475"/>
          </a:xfrm>
        </p:grpSpPr>
        <p:sp>
          <p:nvSpPr>
            <p:cNvPr id="684" name="Google Shape;684;p24"/>
            <p:cNvSpPr/>
            <p:nvPr/>
          </p:nvSpPr>
          <p:spPr>
            <a:xfrm>
              <a:off x="2571750" y="809625"/>
              <a:ext cx="1714500" cy="400200"/>
            </a:xfrm>
            <a:prstGeom prst="roundRect">
              <a:avLst>
                <a:gd fmla="val 14285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4"/>
            <p:cNvSpPr txBox="1"/>
            <p:nvPr/>
          </p:nvSpPr>
          <p:spPr>
            <a:xfrm>
              <a:off x="2619375" y="828675"/>
              <a:ext cx="1619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2. Predict</a:t>
              </a:r>
              <a:endParaRPr b="1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FDF4FD"/>
                  </a:solidFill>
                  <a:latin typeface="Open Sans"/>
                  <a:ea typeface="Open Sans"/>
                  <a:cs typeface="Open Sans"/>
                  <a:sym typeface="Open Sans"/>
                </a:rPr>
                <a:t>Machine learning models</a:t>
              </a:r>
              <a:endParaRPr sz="700">
                <a:solidFill>
                  <a:srgbClr val="FDF4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2571750" y="1257300"/>
              <a:ext cx="1714500" cy="1447800"/>
            </a:xfrm>
            <a:prstGeom prst="roundRect">
              <a:avLst>
                <a:gd fmla="val 394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4"/>
            <p:cNvSpPr txBox="1"/>
            <p:nvPr/>
          </p:nvSpPr>
          <p:spPr>
            <a:xfrm>
              <a:off x="2619375" y="1352550"/>
              <a:ext cx="16191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rgbClr val="CB46B1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86.04%</a:t>
              </a:r>
              <a:endParaRPr sz="1300">
                <a:solidFill>
                  <a:srgbClr val="CB46B1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RANDOM FOREST ACCURACY</a:t>
              </a:r>
              <a:endParaRPr sz="650">
                <a:solidFill>
                  <a:srgbClr val="475569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688" name="Google Shape;688;p24"/>
            <p:cNvSpPr txBox="1"/>
            <p:nvPr/>
          </p:nvSpPr>
          <p:spPr>
            <a:xfrm>
              <a:off x="2619375" y="1857375"/>
              <a:ext cx="16191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rgbClr val="CB46B1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0.932</a:t>
              </a:r>
              <a:endParaRPr sz="1300">
                <a:solidFill>
                  <a:srgbClr val="CB46B1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ROC-AUC SCORE</a:t>
              </a:r>
              <a:endParaRPr sz="650">
                <a:solidFill>
                  <a:srgbClr val="475569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pic>
          <p:nvPicPr>
            <p:cNvPr id="689" name="Google Shape;68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24350" y="962025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0" name="Google Shape;690;p24"/>
          <p:cNvGrpSpPr/>
          <p:nvPr/>
        </p:nvGrpSpPr>
        <p:grpSpPr>
          <a:xfrm>
            <a:off x="4572000" y="809625"/>
            <a:ext cx="1866900" cy="1895475"/>
            <a:chOff x="4572000" y="809625"/>
            <a:chExt cx="1866900" cy="1895475"/>
          </a:xfrm>
        </p:grpSpPr>
        <p:sp>
          <p:nvSpPr>
            <p:cNvPr id="691" name="Google Shape;691;p24"/>
            <p:cNvSpPr/>
            <p:nvPr/>
          </p:nvSpPr>
          <p:spPr>
            <a:xfrm>
              <a:off x="4572000" y="809625"/>
              <a:ext cx="1714500" cy="400200"/>
            </a:xfrm>
            <a:prstGeom prst="roundRect">
              <a:avLst>
                <a:gd fmla="val 14285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4"/>
            <p:cNvSpPr txBox="1"/>
            <p:nvPr/>
          </p:nvSpPr>
          <p:spPr>
            <a:xfrm>
              <a:off x="4619625" y="828675"/>
              <a:ext cx="1619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3. Act</a:t>
              </a:r>
              <a:endParaRPr b="1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FDF4FD"/>
                  </a:solidFill>
                  <a:latin typeface="Open Sans"/>
                  <a:ea typeface="Open Sans"/>
                  <a:cs typeface="Open Sans"/>
                  <a:sym typeface="Open Sans"/>
                </a:rPr>
                <a:t>Apply targeted interventions</a:t>
              </a:r>
              <a:endParaRPr sz="700">
                <a:solidFill>
                  <a:srgbClr val="FDF4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4572000" y="1257300"/>
              <a:ext cx="1714500" cy="1447800"/>
            </a:xfrm>
            <a:prstGeom prst="roundRect">
              <a:avLst>
                <a:gd fmla="val 394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4"/>
            <p:cNvSpPr txBox="1"/>
            <p:nvPr/>
          </p:nvSpPr>
          <p:spPr>
            <a:xfrm>
              <a:off x="4619625" y="1381125"/>
              <a:ext cx="161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solidFill>
                    <a:srgbClr val="CB46B1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5 Priority</a:t>
              </a:r>
              <a:endParaRPr sz="1300">
                <a:solidFill>
                  <a:srgbClr val="CB46B1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STRATEGIC ACTIONS</a:t>
              </a:r>
              <a:endParaRPr sz="650">
                <a:solidFill>
                  <a:srgbClr val="475569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695" name="Google Shape;695;p24"/>
            <p:cNvSpPr txBox="1"/>
            <p:nvPr/>
          </p:nvSpPr>
          <p:spPr>
            <a:xfrm>
              <a:off x="4686300" y="1857375"/>
              <a:ext cx="1485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• </a:t>
              </a:r>
              <a:r>
                <a:rPr lang="en-GB" sz="65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Optimize Opportunity Mix</a:t>
              </a:r>
              <a:endParaRPr sz="65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• Expand Opportunity Capacity</a:t>
              </a:r>
              <a:endParaRPr sz="65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• Target High-Potential Periods</a:t>
              </a:r>
              <a:endParaRPr sz="65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• Target New Markets</a:t>
              </a:r>
              <a:endParaRPr sz="65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5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• Use Predictive Analytics</a:t>
              </a:r>
              <a:endParaRPr sz="65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pic>
          <p:nvPicPr>
            <p:cNvPr id="696" name="Google Shape;696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24600" y="962025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7" name="Google Shape;697;p24"/>
          <p:cNvGrpSpPr/>
          <p:nvPr/>
        </p:nvGrpSpPr>
        <p:grpSpPr>
          <a:xfrm>
            <a:off x="6572250" y="809625"/>
            <a:ext cx="2000100" cy="1895475"/>
            <a:chOff x="6572250" y="809625"/>
            <a:chExt cx="2000100" cy="1895475"/>
          </a:xfrm>
        </p:grpSpPr>
        <p:sp>
          <p:nvSpPr>
            <p:cNvPr id="698" name="Google Shape;698;p24"/>
            <p:cNvSpPr/>
            <p:nvPr/>
          </p:nvSpPr>
          <p:spPr>
            <a:xfrm>
              <a:off x="6572250" y="809625"/>
              <a:ext cx="2000100" cy="400200"/>
            </a:xfrm>
            <a:prstGeom prst="roundRect">
              <a:avLst>
                <a:gd fmla="val 14285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4"/>
            <p:cNvSpPr txBox="1"/>
            <p:nvPr/>
          </p:nvSpPr>
          <p:spPr>
            <a:xfrm>
              <a:off x="6619875" y="828675"/>
              <a:ext cx="1905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4. Improve</a:t>
              </a:r>
              <a:endParaRPr b="1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FDF4FD"/>
                  </a:solidFill>
                  <a:latin typeface="Open Sans"/>
                  <a:ea typeface="Open Sans"/>
                  <a:cs typeface="Open Sans"/>
                  <a:sym typeface="Open Sans"/>
                </a:rPr>
                <a:t>Measure &amp; continuously refine</a:t>
              </a:r>
              <a:endParaRPr sz="700">
                <a:solidFill>
                  <a:srgbClr val="FDF4F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6572250" y="1257300"/>
              <a:ext cx="2000100" cy="1447800"/>
            </a:xfrm>
            <a:prstGeom prst="roundRect">
              <a:avLst>
                <a:gd fmla="val 394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4"/>
            <p:cNvSpPr txBox="1"/>
            <p:nvPr/>
          </p:nvSpPr>
          <p:spPr>
            <a:xfrm>
              <a:off x="6619875" y="1333500"/>
              <a:ext cx="1905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CB46B1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6 Core Measures</a:t>
              </a:r>
              <a:endParaRPr sz="1200">
                <a:solidFill>
                  <a:srgbClr val="CB46B1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702" name="Google Shape;702;p24"/>
            <p:cNvSpPr txBox="1"/>
            <p:nvPr/>
          </p:nvSpPr>
          <p:spPr>
            <a:xfrm>
              <a:off x="6715125" y="1600200"/>
              <a:ext cx="1714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•</a:t>
              </a:r>
              <a:r>
                <a:rPr lang="en-GB" sz="65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 Participation Rate</a:t>
              </a:r>
              <a:endParaRPr sz="65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• Opportunity Fill Rate</a:t>
              </a:r>
              <a:endParaRPr sz="65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• Geographic Diversity</a:t>
              </a:r>
              <a:endParaRPr sz="65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• Completion Rate</a:t>
              </a:r>
              <a:endParaRPr sz="65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• Repeat Participation</a:t>
              </a:r>
              <a:endParaRPr sz="65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50"/>
                </a:spcAft>
                <a:buNone/>
              </a:pPr>
              <a:r>
                <a:rPr lang="en-GB" sz="650">
                  <a:solidFill>
                    <a:srgbClr val="475569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• Prediction Accuracy</a:t>
              </a:r>
              <a:endParaRPr sz="65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</p:grpSp>
      <p:pic>
        <p:nvPicPr>
          <p:cNvPr id="703" name="Google Shape;70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0" y="2695575"/>
            <a:ext cx="95400" cy="1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24"/>
          <p:cNvGrpSpPr/>
          <p:nvPr/>
        </p:nvGrpSpPr>
        <p:grpSpPr>
          <a:xfrm>
            <a:off x="571500" y="2905125"/>
            <a:ext cx="8001000" cy="952500"/>
            <a:chOff x="571500" y="2905125"/>
            <a:chExt cx="8001000" cy="952500"/>
          </a:xfrm>
        </p:grpSpPr>
        <p:sp>
          <p:nvSpPr>
            <p:cNvPr id="705" name="Google Shape;705;p24"/>
            <p:cNvSpPr/>
            <p:nvPr/>
          </p:nvSpPr>
          <p:spPr>
            <a:xfrm>
              <a:off x="571500" y="2905125"/>
              <a:ext cx="8001000" cy="952500"/>
            </a:xfrm>
            <a:prstGeom prst="roundRect">
              <a:avLst>
                <a:gd fmla="val 6000" name="adj"/>
              </a:avLst>
            </a:prstGeom>
            <a:solidFill>
              <a:srgbClr val="CB46B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571500" y="2905125"/>
              <a:ext cx="8001000" cy="266700"/>
            </a:xfrm>
            <a:prstGeom prst="roundRect">
              <a:avLst>
                <a:gd fmla="val 7142" name="adj"/>
              </a:avLst>
            </a:prstGeom>
            <a:solidFill>
              <a:srgbClr val="8619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4"/>
            <p:cNvSpPr txBox="1"/>
            <p:nvPr/>
          </p:nvSpPr>
          <p:spPr>
            <a:xfrm>
              <a:off x="762000" y="2905125"/>
              <a:ext cx="7620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EXPECTED BUSINESS IMPACT FLOW</a:t>
              </a:r>
              <a:endParaRPr b="1" sz="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08" name="Google Shape;708;p24"/>
            <p:cNvSpPr/>
            <p:nvPr/>
          </p:nvSpPr>
          <p:spPr>
            <a:xfrm>
              <a:off x="714375" y="3267075"/>
              <a:ext cx="1762200" cy="476400"/>
            </a:xfrm>
            <a:prstGeom prst="roundRect">
              <a:avLst>
                <a:gd fmla="val 8000" name="adj"/>
              </a:avLst>
            </a:prstGeom>
            <a:solidFill>
              <a:srgbClr val="86198F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4"/>
            <p:cNvSpPr txBox="1"/>
            <p:nvPr/>
          </p:nvSpPr>
          <p:spPr>
            <a:xfrm>
              <a:off x="762000" y="3267075"/>
              <a:ext cx="1666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Higher Participation</a:t>
              </a:r>
              <a:endParaRPr b="1" sz="7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710" name="Google Shape;710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24125" y="3457575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1" name="Google Shape;711;p24"/>
            <p:cNvSpPr/>
            <p:nvPr/>
          </p:nvSpPr>
          <p:spPr>
            <a:xfrm>
              <a:off x="2686050" y="3267075"/>
              <a:ext cx="1762200" cy="476400"/>
            </a:xfrm>
            <a:prstGeom prst="roundRect">
              <a:avLst>
                <a:gd fmla="val 8000" name="adj"/>
              </a:avLst>
            </a:prstGeom>
            <a:solidFill>
              <a:srgbClr val="86198F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4"/>
            <p:cNvSpPr txBox="1"/>
            <p:nvPr/>
          </p:nvSpPr>
          <p:spPr>
            <a:xfrm>
              <a:off x="2733675" y="3267075"/>
              <a:ext cx="1666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Better Opportunity Access</a:t>
              </a:r>
              <a:endParaRPr b="1" sz="7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713" name="Google Shape;713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95800" y="3457575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4" name="Google Shape;714;p24"/>
            <p:cNvSpPr/>
            <p:nvPr/>
          </p:nvSpPr>
          <p:spPr>
            <a:xfrm>
              <a:off x="4657725" y="3267075"/>
              <a:ext cx="1762200" cy="476400"/>
            </a:xfrm>
            <a:prstGeom prst="roundRect">
              <a:avLst>
                <a:gd fmla="val 8000" name="adj"/>
              </a:avLst>
            </a:prstGeom>
            <a:solidFill>
              <a:srgbClr val="86198F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4"/>
            <p:cNvSpPr txBox="1"/>
            <p:nvPr/>
          </p:nvSpPr>
          <p:spPr>
            <a:xfrm>
              <a:off x="4705350" y="3267075"/>
              <a:ext cx="1666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Smarter Resource Allocation</a:t>
              </a:r>
              <a:endParaRPr b="1" sz="7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716" name="Google Shape;716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67475" y="3457575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7" name="Google Shape;717;p24"/>
            <p:cNvSpPr/>
            <p:nvPr/>
          </p:nvSpPr>
          <p:spPr>
            <a:xfrm>
              <a:off x="6629400" y="3267075"/>
              <a:ext cx="1809600" cy="476400"/>
            </a:xfrm>
            <a:prstGeom prst="roundRect">
              <a:avLst>
                <a:gd fmla="val 8000" name="adj"/>
              </a:avLst>
            </a:prstGeom>
            <a:solidFill>
              <a:srgbClr val="86198F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4"/>
            <p:cNvSpPr txBox="1"/>
            <p:nvPr/>
          </p:nvSpPr>
          <p:spPr>
            <a:xfrm>
              <a:off x="6677025" y="32670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Continuous Program Improvement</a:t>
              </a:r>
              <a:endParaRPr b="1" sz="7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719" name="Google Shape;719;p24"/>
          <p:cNvGrpSpPr/>
          <p:nvPr/>
        </p:nvGrpSpPr>
        <p:grpSpPr>
          <a:xfrm>
            <a:off x="571500" y="3952875"/>
            <a:ext cx="8001000" cy="619200"/>
            <a:chOff x="571500" y="3952875"/>
            <a:chExt cx="8001000" cy="619200"/>
          </a:xfrm>
        </p:grpSpPr>
        <p:sp>
          <p:nvSpPr>
            <p:cNvPr id="720" name="Google Shape;720;p24"/>
            <p:cNvSpPr/>
            <p:nvPr/>
          </p:nvSpPr>
          <p:spPr>
            <a:xfrm>
              <a:off x="571500" y="3952875"/>
              <a:ext cx="8001000" cy="619200"/>
            </a:xfrm>
            <a:prstGeom prst="roundRect">
              <a:avLst>
                <a:gd fmla="val 9230" name="adj"/>
              </a:avLst>
            </a:prstGeom>
            <a:solidFill>
              <a:srgbClr val="8619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4"/>
            <p:cNvSpPr txBox="1"/>
            <p:nvPr/>
          </p:nvSpPr>
          <p:spPr>
            <a:xfrm>
              <a:off x="762000" y="3952875"/>
              <a:ext cx="7620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FDF4FD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Transform historical participation data into proactive decisions that improve learner engagement and program effectiveness.</a:t>
              </a:r>
              <a:endParaRPr sz="950">
                <a:solidFill>
                  <a:srgbClr val="FDF4FD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7" name="Google Shape;727;p25"/>
          <p:cNvGrpSpPr/>
          <p:nvPr/>
        </p:nvGrpSpPr>
        <p:grpSpPr>
          <a:xfrm>
            <a:off x="428625" y="1600200"/>
            <a:ext cx="8286900" cy="1857375"/>
            <a:chOff x="428625" y="1600200"/>
            <a:chExt cx="8286900" cy="1857375"/>
          </a:xfrm>
        </p:grpSpPr>
        <p:pic>
          <p:nvPicPr>
            <p:cNvPr id="728" name="Google Shape;728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4838" y="1919288"/>
              <a:ext cx="7934400" cy="130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9" name="Google Shape;729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4838" y="2000250"/>
              <a:ext cx="7934400" cy="114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0" name="Google Shape;730;p25"/>
            <p:cNvSpPr/>
            <p:nvPr/>
          </p:nvSpPr>
          <p:spPr>
            <a:xfrm>
              <a:off x="1114425" y="2066925"/>
              <a:ext cx="57300" cy="57300"/>
            </a:xfrm>
            <a:prstGeom prst="ellipse">
              <a:avLst/>
            </a:prstGeom>
            <a:solidFill>
              <a:srgbClr val="CB46B1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31" name="Google Shape;731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71563" y="2024063"/>
              <a:ext cx="142800" cy="1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25"/>
            <p:cNvSpPr/>
            <p:nvPr/>
          </p:nvSpPr>
          <p:spPr>
            <a:xfrm>
              <a:off x="2638425" y="1924050"/>
              <a:ext cx="57300" cy="57300"/>
            </a:xfrm>
            <a:prstGeom prst="ellipse">
              <a:avLst/>
            </a:prstGeom>
            <a:solidFill>
              <a:srgbClr val="CB46B1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33" name="Google Shape;733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95563" y="1881188"/>
              <a:ext cx="142800" cy="1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4" name="Google Shape;734;p25"/>
            <p:cNvSpPr/>
            <p:nvPr/>
          </p:nvSpPr>
          <p:spPr>
            <a:xfrm>
              <a:off x="4533900" y="2533650"/>
              <a:ext cx="76200" cy="76200"/>
            </a:xfrm>
            <a:prstGeom prst="ellipse">
              <a:avLst/>
            </a:prstGeom>
            <a:solidFill>
              <a:srgbClr val="F46A3A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35" name="Google Shape;73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81513" y="2481263"/>
              <a:ext cx="180900" cy="180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25"/>
            <p:cNvSpPr/>
            <p:nvPr/>
          </p:nvSpPr>
          <p:spPr>
            <a:xfrm>
              <a:off x="6448425" y="2828925"/>
              <a:ext cx="57300" cy="57300"/>
            </a:xfrm>
            <a:prstGeom prst="ellipse">
              <a:avLst/>
            </a:prstGeom>
            <a:solidFill>
              <a:srgbClr val="CB46B1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37" name="Google Shape;737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05563" y="2786063"/>
              <a:ext cx="142800" cy="1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8" name="Google Shape;738;p25"/>
            <p:cNvSpPr/>
            <p:nvPr/>
          </p:nvSpPr>
          <p:spPr>
            <a:xfrm>
              <a:off x="7972425" y="3019425"/>
              <a:ext cx="57300" cy="57300"/>
            </a:xfrm>
            <a:prstGeom prst="ellipse">
              <a:avLst/>
            </a:prstGeom>
            <a:solidFill>
              <a:srgbClr val="CB46B1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39" name="Google Shape;739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29563" y="2976563"/>
              <a:ext cx="1428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0" name="Google Shape;740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38238" y="2095500"/>
              <a:ext cx="96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1" name="Google Shape;741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662238" y="1762125"/>
              <a:ext cx="96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2" name="Google Shape;742;p2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567238" y="2571750"/>
              <a:ext cx="9600" cy="285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3" name="Google Shape;743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472238" y="2667000"/>
              <a:ext cx="96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4" name="Google Shape;744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996238" y="3048000"/>
              <a:ext cx="96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5" name="Google Shape;745;p25"/>
            <p:cNvSpPr txBox="1"/>
            <p:nvPr/>
          </p:nvSpPr>
          <p:spPr>
            <a:xfrm>
              <a:off x="428625" y="231457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4A3B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DATA</a:t>
              </a:r>
              <a:endParaRPr b="0" sz="700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46" name="Google Shape;746;p25"/>
            <p:cNvSpPr txBox="1"/>
            <p:nvPr/>
          </p:nvSpPr>
          <p:spPr>
            <a:xfrm>
              <a:off x="1952625" y="1600200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4A3B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INSIGHTS</a:t>
              </a:r>
              <a:endParaRPr b="0" sz="700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47" name="Google Shape;747;p25"/>
            <p:cNvSpPr txBox="1"/>
            <p:nvPr/>
          </p:nvSpPr>
          <p:spPr>
            <a:xfrm>
              <a:off x="3857625" y="288607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F46A3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PREDICTION</a:t>
              </a:r>
              <a:endParaRPr b="0" sz="700">
                <a:solidFill>
                  <a:srgbClr val="F46A3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48" name="Google Shape;748;p25"/>
            <p:cNvSpPr txBox="1"/>
            <p:nvPr/>
          </p:nvSpPr>
          <p:spPr>
            <a:xfrm>
              <a:off x="5762625" y="250507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4A3B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ACTION</a:t>
              </a:r>
              <a:endParaRPr b="0" sz="700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49" name="Google Shape;749;p25"/>
            <p:cNvSpPr txBox="1"/>
            <p:nvPr/>
          </p:nvSpPr>
          <p:spPr>
            <a:xfrm>
              <a:off x="7286625" y="326707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94A3B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IMPACT</a:t>
              </a:r>
              <a:endParaRPr b="0" sz="700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750" name="Google Shape;750;p25"/>
          <p:cNvGrpSpPr/>
          <p:nvPr/>
        </p:nvGrpSpPr>
        <p:grpSpPr>
          <a:xfrm>
            <a:off x="571500" y="1619250"/>
            <a:ext cx="8001000" cy="1095375"/>
            <a:chOff x="571500" y="1619250"/>
            <a:chExt cx="8001000" cy="1095375"/>
          </a:xfrm>
        </p:grpSpPr>
        <p:sp>
          <p:nvSpPr>
            <p:cNvPr id="751" name="Google Shape;751;p25"/>
            <p:cNvSpPr txBox="1"/>
            <p:nvPr/>
          </p:nvSpPr>
          <p:spPr>
            <a:xfrm>
              <a:off x="571500" y="161925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4600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rPr>
                <a:t>Thank You</a:t>
              </a:r>
              <a:endParaRPr b="1" sz="46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2" name="Google Shape;752;p25"/>
            <p:cNvSpPr txBox="1"/>
            <p:nvPr/>
          </p:nvSpPr>
          <p:spPr>
            <a:xfrm>
              <a:off x="571500" y="2333625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Questions &amp; Discussion</a:t>
              </a:r>
              <a:endParaRPr b="0" sz="14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53" name="Google Shape;753;p25"/>
          <p:cNvGrpSpPr/>
          <p:nvPr/>
        </p:nvGrpSpPr>
        <p:grpSpPr>
          <a:xfrm>
            <a:off x="571500" y="4429125"/>
            <a:ext cx="8001000" cy="428550"/>
            <a:chOff x="571500" y="4429125"/>
            <a:chExt cx="8001000" cy="428550"/>
          </a:xfrm>
        </p:grpSpPr>
        <p:cxnSp>
          <p:nvCxnSpPr>
            <p:cNvPr id="754" name="Google Shape;754;p25"/>
            <p:cNvCxnSpPr/>
            <p:nvPr/>
          </p:nvCxnSpPr>
          <p:spPr>
            <a:xfrm>
              <a:off x="1714500" y="4429125"/>
              <a:ext cx="5715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5" name="Google Shape;755;p25"/>
            <p:cNvSpPr txBox="1"/>
            <p:nvPr/>
          </p:nvSpPr>
          <p:spPr>
            <a:xfrm>
              <a:off x="571500" y="4524375"/>
              <a:ext cx="8001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9CA3A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Student Participation Analysis &amp; Predictive Insights</a:t>
              </a:r>
              <a:endParaRPr b="0" sz="750">
                <a:solidFill>
                  <a:srgbClr val="9CA3A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650">
                  <a:solidFill>
                    <a:srgbClr val="9CA3AF"/>
                  </a:solidFill>
                  <a:latin typeface="Poppins"/>
                  <a:ea typeface="Poppins"/>
                  <a:cs typeface="Poppins"/>
                  <a:sym typeface="Poppins"/>
                </a:rPr>
                <a:t>Excelerate AI Powered Data Analytics Internship</a:t>
              </a:r>
              <a:endParaRPr b="0" sz="65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